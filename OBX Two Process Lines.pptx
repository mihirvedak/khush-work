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left to right: biomass lot to QC release. Chip colour in each card corner = how that step's key data is captured today. Teal risers show the steps whose data already lands in Cloud SQL / Acumatica; the dotted risers at extraction and crystallization show PLC data that stays on the Beckhoff HMI. The hatched red region is the heptane mass-balance gap across extraction and LLE (opportunity 4). Onsite: confirm which PLC tags exist, whether any history is kept locally, and how freebase / salt weights reach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step on this line is governed by a controlled paper BPR, so the chips are almost all grey: the controls are solid, the data is on paper. WFE passes (steps 2 and 3, opportunity 6) are logged as 2-hour snapshots from local displays. After step 3 the batch goes either to CBD isolation or to the derivative reaction, then rejoins for wash, purification and drying. The lower band is the hybrid eBPR approach (opportunity 2): equipment auto-populates, operators attest, Quality keeps template control and signatures. Onsite: confirm whether SOP-BIP-004 or 006 governs the 2M pass, and which WFE / oven controllers expose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84350" y="1212850"/>
            <a:ext cx="5295900" cy="3556000"/>
          </a:xfrm>
          <a:prstGeom prst="roundRect">
            <a:avLst>
              <a:gd name="adj" fmla="val 2679"/>
            </a:avLst>
          </a:prstGeom>
          <a:gradFill rotWithShape="1">
            <a:gsLst>
              <a:gs pos="0">
                <a:srgbClr val="FDF1EE"/>
              </a:gs>
              <a:gs pos="83333">
                <a:srgbClr val="FDF1EE"/>
              </a:gs>
              <a:gs pos="83333">
                <a:srgbClr val="F5D6D0"/>
              </a:gs>
              <a:gs pos="100000">
                <a:srgbClr val="F5D6D0"/>
              </a:gs>
            </a:gsLst>
            <a:lin ang="18900000" scaled="0"/>
          </a:gradFill>
          <a:ln w="12700">
            <a:solidFill>
              <a:srgbClr val="C0392B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254000" y="254000"/>
            <a:ext cx="981075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2F55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FACLON LABS × OPEN BOOK EXTRACTS · LINE 1 OF 2 · CURRENT STATE</a:t>
            </a:r>
            <a:endParaRPr lang="en-US" sz="1100" dirty="0"/>
          </a:p>
        </p:txBody>
      </p:sp>
      <p:pic>
        <p:nvPicPr>
          <p:cNvPr id="4" name="Image 0" descr="Faclon Labs">    </p:cNvPr>
          <p:cNvPicPr>
            <a:picLocks noChangeAspect="1"/>
          </p:cNvPicPr>
          <p:nvPr/>
        </p:nvPicPr>
        <p:blipFill>
          <a:blip r:embed="rId1"/>
          <a:srcRect l="0" r="0" t="-63" b="-63"/>
          <a:stretch/>
        </p:blipFill>
        <p:spPr>
          <a:xfrm>
            <a:off x="10795000" y="215900"/>
            <a:ext cx="1117600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482600"/>
            <a:ext cx="1200835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dirty="0">
                <a:solidFill>
                  <a:srgbClr val="2F55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Kratom / MIT: Strong digital genealogy, thin process telemetry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254000" y="850900"/>
            <a:ext cx="1200835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Continuous-batch extraction with batch-level traceability from biomass lot to salt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7175" y="1552575"/>
            <a:ext cx="1339850" cy="3143250"/>
          </a:xfrm>
          <a:prstGeom prst="roundRect">
            <a:avLst>
              <a:gd name="adj" fmla="val 5450"/>
            </a:avLst>
          </a:prstGeom>
          <a:solidFill>
            <a:srgbClr val="F1F5FA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6550" y="1631950"/>
            <a:ext cx="1231900" cy="19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2F55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r>
              <a:rPr lang="en-US" sz="1200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 Biomass lot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6550" y="1850330"/>
            <a:ext cx="1231900" cy="52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Receive and identify raw material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550" y="2403872"/>
            <a:ext cx="454819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11" name="Text 8"/>
          <p:cNvSpPr/>
          <p:nvPr/>
        </p:nvSpPr>
        <p:spPr>
          <a:xfrm>
            <a:off x="400050" y="2422922"/>
            <a:ext cx="378619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lot ID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9469" y="2403872"/>
            <a:ext cx="533598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13" name="Text 10"/>
          <p:cNvSpPr/>
          <p:nvPr/>
        </p:nvSpPr>
        <p:spPr>
          <a:xfrm>
            <a:off x="892969" y="2422922"/>
            <a:ext cx="457398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source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6550" y="2640707"/>
            <a:ext cx="544016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15" name="Text 12"/>
          <p:cNvSpPr/>
          <p:nvPr/>
        </p:nvSpPr>
        <p:spPr>
          <a:xfrm>
            <a:off x="400050" y="2659757"/>
            <a:ext cx="467816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weight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6550" y="2877542"/>
            <a:ext cx="1181100" cy="359370"/>
          </a:xfrm>
          <a:prstGeom prst="roundRect">
            <a:avLst>
              <a:gd name="adj" fmla="val 24738"/>
            </a:avLst>
          </a:prstGeom>
          <a:solidFill>
            <a:srgbClr val="E6EBFA"/>
          </a:solidFill>
          <a:ln/>
        </p:spPr>
      </p:sp>
      <p:sp>
        <p:nvSpPr>
          <p:cNvPr id="17" name="Text 14"/>
          <p:cNvSpPr/>
          <p:nvPr/>
        </p:nvSpPr>
        <p:spPr>
          <a:xfrm>
            <a:off x="400050" y="2896592"/>
            <a:ext cx="110490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lot size ~14–17k kg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6550" y="4227314"/>
            <a:ext cx="1181100" cy="0"/>
          </a:xfrm>
          <a:prstGeom prst="line">
            <a:avLst/>
          </a:prstGeom>
          <a:noFill/>
          <a:ln w="6350">
            <a:solidFill>
              <a:srgbClr val="CBD5E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6550" y="4281289"/>
            <a:ext cx="1231900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405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Tablet app · Cloud SQL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908175" y="1552575"/>
            <a:ext cx="1339850" cy="3143250"/>
          </a:xfrm>
          <a:prstGeom prst="roundRect">
            <a:avLst>
              <a:gd name="adj" fmla="val 5450"/>
            </a:avLst>
          </a:prstGeom>
          <a:solidFill>
            <a:srgbClr val="F1F5FA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987550" y="1631950"/>
            <a:ext cx="1231900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2F55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r>
              <a:rPr lang="en-US" sz="1200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 Pretreatment / extraction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987550" y="2017911"/>
            <a:ext cx="1231900" cy="52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Pull alkaloids out with solvent (heptane)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987550" y="2571452"/>
            <a:ext cx="712291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24" name="Text 21"/>
          <p:cNvSpPr/>
          <p:nvPr/>
        </p:nvSpPr>
        <p:spPr>
          <a:xfrm>
            <a:off x="2051050" y="2590502"/>
            <a:ext cx="636091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tank level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987550" y="2808288"/>
            <a:ext cx="1181100" cy="359370"/>
          </a:xfrm>
          <a:prstGeom prst="roundRect">
            <a:avLst>
              <a:gd name="adj" fmla="val 24738"/>
            </a:avLst>
          </a:prstGeom>
          <a:solidFill>
            <a:srgbClr val="E6EBFA"/>
          </a:solidFill>
          <a:ln/>
        </p:spPr>
      </p:sp>
      <p:sp>
        <p:nvSpPr>
          <p:cNvPr id="26" name="Text 23"/>
          <p:cNvSpPr/>
          <p:nvPr/>
        </p:nvSpPr>
        <p:spPr>
          <a:xfrm>
            <a:off x="2051050" y="2827338"/>
            <a:ext cx="110490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pump/valve state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987550" y="3205758"/>
            <a:ext cx="1181100" cy="359370"/>
          </a:xfrm>
          <a:prstGeom prst="roundRect">
            <a:avLst>
              <a:gd name="adj" fmla="val 24738"/>
            </a:avLst>
          </a:prstGeom>
          <a:solidFill>
            <a:srgbClr val="E6EBFA"/>
          </a:solidFill>
          <a:ln/>
        </p:spPr>
      </p:sp>
      <p:sp>
        <p:nvSpPr>
          <p:cNvPr id="28" name="Text 25"/>
          <p:cNvSpPr/>
          <p:nvPr/>
        </p:nvSpPr>
        <p:spPr>
          <a:xfrm>
            <a:off x="2051050" y="3224808"/>
            <a:ext cx="110490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cycle &amp; drain timing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987550" y="3603228"/>
            <a:ext cx="967879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30" name="Text 27"/>
          <p:cNvSpPr/>
          <p:nvPr/>
        </p:nvSpPr>
        <p:spPr>
          <a:xfrm>
            <a:off x="2051050" y="3622278"/>
            <a:ext cx="891679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flow/pressure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987550" y="4227314"/>
            <a:ext cx="1181100" cy="0"/>
          </a:xfrm>
          <a:prstGeom prst="line">
            <a:avLst/>
          </a:prstGeom>
          <a:noFill/>
          <a:ln w="6350">
            <a:solidFill>
              <a:srgbClr val="CBD5E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987550" y="4281289"/>
            <a:ext cx="1231900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405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Beckhoff PLC + HMI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559175" y="1552575"/>
            <a:ext cx="1339850" cy="3143250"/>
          </a:xfrm>
          <a:prstGeom prst="roundRect">
            <a:avLst>
              <a:gd name="adj" fmla="val 5450"/>
            </a:avLst>
          </a:prstGeom>
          <a:solidFill>
            <a:srgbClr val="F1F5FA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38550" y="1631950"/>
            <a:ext cx="1231900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2F55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r>
              <a:rPr lang="en-US" sz="1200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 Extraction tote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638550" y="2017911"/>
            <a:ext cx="1231900" cy="52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Hold extract, carry batch identity forward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638550" y="2571452"/>
            <a:ext cx="545802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37" name="Text 34"/>
          <p:cNvSpPr/>
          <p:nvPr/>
        </p:nvSpPr>
        <p:spPr>
          <a:xfrm>
            <a:off x="3702050" y="2590502"/>
            <a:ext cx="469602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tote ID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638550" y="2808288"/>
            <a:ext cx="959545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39" name="Text 36"/>
          <p:cNvSpPr/>
          <p:nvPr/>
        </p:nvSpPr>
        <p:spPr>
          <a:xfrm>
            <a:off x="3702050" y="2827338"/>
            <a:ext cx="883345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source lot link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638550" y="3045123"/>
            <a:ext cx="572393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41" name="Text 38"/>
          <p:cNvSpPr/>
          <p:nvPr/>
        </p:nvSpPr>
        <p:spPr>
          <a:xfrm>
            <a:off x="3702050" y="3064173"/>
            <a:ext cx="496193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volume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638550" y="3281958"/>
            <a:ext cx="941288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43" name="Text 40"/>
          <p:cNvSpPr/>
          <p:nvPr/>
        </p:nvSpPr>
        <p:spPr>
          <a:xfrm>
            <a:off x="3702050" y="3301008"/>
            <a:ext cx="865088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transfer time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638550" y="4227314"/>
            <a:ext cx="1181100" cy="0"/>
          </a:xfrm>
          <a:prstGeom prst="line">
            <a:avLst/>
          </a:prstGeom>
          <a:noFill/>
          <a:ln w="6350">
            <a:solidFill>
              <a:srgbClr val="CBD5E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38550" y="4281289"/>
            <a:ext cx="1231900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405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SQL genealogy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216525" y="1558925"/>
            <a:ext cx="1733550" cy="31305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2F55D4"/>
            </a:solidFill>
            <a:prstDash val="solid"/>
          </a:ln>
          <a:effectLst>
            <a:outerShdw sx="100000" sy="100000" kx="0" ky="0" algn="bl" rotWithShape="0" blurRad="25400" dist="12700" dir="5400000">
              <a:srgbClr val="192839">
                <a:alpha val="6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5302250" y="1644650"/>
            <a:ext cx="16129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2F55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r>
              <a:rPr lang="en-US" sz="1400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 Crystallization batch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5302250" y="2086570"/>
            <a:ext cx="1612900" cy="52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Cool and adjust to crystallize freebase; yield-critical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302250" y="2640112"/>
            <a:ext cx="675084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50" name="Text 47"/>
          <p:cNvSpPr/>
          <p:nvPr/>
        </p:nvSpPr>
        <p:spPr>
          <a:xfrm>
            <a:off x="5365750" y="2659162"/>
            <a:ext cx="598884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 curve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5302250" y="2876947"/>
            <a:ext cx="1383605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52" name="Text 49"/>
          <p:cNvSpPr/>
          <p:nvPr/>
        </p:nvSpPr>
        <p:spPr>
          <a:xfrm>
            <a:off x="5365750" y="2895997"/>
            <a:ext cx="1307405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internal/jacket temp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5302250" y="3113782"/>
            <a:ext cx="862013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54" name="Text 51"/>
          <p:cNvSpPr/>
          <p:nvPr/>
        </p:nvSpPr>
        <p:spPr>
          <a:xfrm>
            <a:off x="5365750" y="3132832"/>
            <a:ext cx="785813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base dosing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5302250" y="3350617"/>
            <a:ext cx="701080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56" name="Text 53"/>
          <p:cNvSpPr/>
          <p:nvPr/>
        </p:nvSpPr>
        <p:spPr>
          <a:xfrm>
            <a:off x="5365750" y="3369667"/>
            <a:ext cx="624880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hold time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7267575" y="1552575"/>
            <a:ext cx="1339850" cy="3143250"/>
          </a:xfrm>
          <a:prstGeom prst="roundRect">
            <a:avLst>
              <a:gd name="adj" fmla="val 5450"/>
            </a:avLst>
          </a:prstGeom>
          <a:solidFill>
            <a:srgbClr val="F1F5FA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346950" y="1631950"/>
            <a:ext cx="1231900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2F55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r>
              <a:rPr lang="en-US" sz="1200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 Freebase drum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7346950" y="2017911"/>
            <a:ext cx="1231900" cy="52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Weigh and package freebase as a traceable unit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7346950" y="2571452"/>
            <a:ext cx="1020961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61" name="Text 58"/>
          <p:cNvSpPr/>
          <p:nvPr/>
        </p:nvSpPr>
        <p:spPr>
          <a:xfrm>
            <a:off x="7410450" y="2590502"/>
            <a:ext cx="944761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gross/tare/net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7346950" y="2808288"/>
            <a:ext cx="624384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63" name="Text 60"/>
          <p:cNvSpPr/>
          <p:nvPr/>
        </p:nvSpPr>
        <p:spPr>
          <a:xfrm>
            <a:off x="7410450" y="2827338"/>
            <a:ext cx="548184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drum ID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7346950" y="3045123"/>
            <a:ext cx="1149449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65" name="Text 62"/>
          <p:cNvSpPr/>
          <p:nvPr/>
        </p:nvSpPr>
        <p:spPr>
          <a:xfrm>
            <a:off x="7410450" y="3064173"/>
            <a:ext cx="1073249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material identity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8918575" y="1552575"/>
            <a:ext cx="1339850" cy="3143250"/>
          </a:xfrm>
          <a:prstGeom prst="roundRect">
            <a:avLst>
              <a:gd name="adj" fmla="val 5450"/>
            </a:avLst>
          </a:prstGeom>
          <a:solidFill>
            <a:srgbClr val="F1F5FA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8997950" y="1631950"/>
            <a:ext cx="1231900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2F55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r>
              <a:rPr lang="en-US" sz="1200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 Acetate salt run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997950" y="2017911"/>
            <a:ext cx="1231900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Convert freebase to the finished salt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8997950" y="2403872"/>
            <a:ext cx="943967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70" name="Text 67"/>
          <p:cNvSpPr/>
          <p:nvPr/>
        </p:nvSpPr>
        <p:spPr>
          <a:xfrm>
            <a:off x="9061450" y="2422922"/>
            <a:ext cx="867767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input weights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8997950" y="2640707"/>
            <a:ext cx="1181100" cy="359370"/>
          </a:xfrm>
          <a:prstGeom prst="roundRect">
            <a:avLst>
              <a:gd name="adj" fmla="val 24738"/>
            </a:avLst>
          </a:prstGeom>
          <a:solidFill>
            <a:srgbClr val="E6EBFA"/>
          </a:solidFill>
          <a:ln/>
        </p:spPr>
      </p:sp>
      <p:sp>
        <p:nvSpPr>
          <p:cNvPr id="72" name="Text 69"/>
          <p:cNvSpPr/>
          <p:nvPr/>
        </p:nvSpPr>
        <p:spPr>
          <a:xfrm>
            <a:off x="9061450" y="2659757"/>
            <a:ext cx="110490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salt conversion weights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8997950" y="3038177"/>
            <a:ext cx="693440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74" name="Text 71"/>
          <p:cNvSpPr/>
          <p:nvPr/>
        </p:nvSpPr>
        <p:spPr>
          <a:xfrm>
            <a:off x="9061450" y="3057227"/>
            <a:ext cx="617240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drum link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10569575" y="1552575"/>
            <a:ext cx="1339850" cy="3143250"/>
          </a:xfrm>
          <a:prstGeom prst="roundRect">
            <a:avLst>
              <a:gd name="adj" fmla="val 5450"/>
            </a:avLst>
          </a:prstGeom>
          <a:solidFill>
            <a:srgbClr val="F1F5FA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10648950" y="1631950"/>
            <a:ext cx="1231900" cy="19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2F55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r>
              <a:rPr lang="en-US" sz="1200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 QC / inventory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10648950" y="1850330"/>
            <a:ext cx="1231900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Verify spec, release to stock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10648950" y="2236291"/>
            <a:ext cx="913904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79" name="Text 76"/>
          <p:cNvSpPr/>
          <p:nvPr/>
        </p:nvSpPr>
        <p:spPr>
          <a:xfrm>
            <a:off x="10712450" y="2255341"/>
            <a:ext cx="837704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HPLC assays</a:t>
            </a:r>
            <a:endParaRPr lang="en-US" sz="1100" dirty="0"/>
          </a:p>
        </p:txBody>
      </p:sp>
      <p:sp>
        <p:nvSpPr>
          <p:cNvPr id="80" name="Shape 77"/>
          <p:cNvSpPr/>
          <p:nvPr/>
        </p:nvSpPr>
        <p:spPr>
          <a:xfrm>
            <a:off x="10648950" y="2473127"/>
            <a:ext cx="1018480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81" name="Text 78"/>
          <p:cNvSpPr/>
          <p:nvPr/>
        </p:nvSpPr>
        <p:spPr>
          <a:xfrm>
            <a:off x="10712450" y="2492177"/>
            <a:ext cx="942280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external COAs</a:t>
            </a:r>
            <a:endParaRPr lang="en-US" sz="1100" dirty="0"/>
          </a:p>
        </p:txBody>
      </p:sp>
      <p:sp>
        <p:nvSpPr>
          <p:cNvPr id="82" name="Shape 79"/>
          <p:cNvSpPr/>
          <p:nvPr/>
        </p:nvSpPr>
        <p:spPr>
          <a:xfrm>
            <a:off x="10648950" y="2709962"/>
            <a:ext cx="1181100" cy="359370"/>
          </a:xfrm>
          <a:prstGeom prst="roundRect">
            <a:avLst>
              <a:gd name="adj" fmla="val 24738"/>
            </a:avLst>
          </a:prstGeom>
          <a:solidFill>
            <a:srgbClr val="E6EBFA"/>
          </a:solidFill>
          <a:ln/>
        </p:spPr>
      </p:sp>
      <p:sp>
        <p:nvSpPr>
          <p:cNvPr id="83" name="Text 80"/>
          <p:cNvSpPr/>
          <p:nvPr/>
        </p:nvSpPr>
        <p:spPr>
          <a:xfrm>
            <a:off x="10712450" y="2729012"/>
            <a:ext cx="110490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inventory transactions</a:t>
            </a:r>
            <a:endParaRPr lang="en-US" sz="1100" dirty="0"/>
          </a:p>
        </p:txBody>
      </p:sp>
      <p:sp>
        <p:nvSpPr>
          <p:cNvPr id="84" name="Shape 81"/>
          <p:cNvSpPr/>
          <p:nvPr/>
        </p:nvSpPr>
        <p:spPr>
          <a:xfrm>
            <a:off x="10652125" y="3624163"/>
            <a:ext cx="1174750" cy="378420"/>
          </a:xfrm>
          <a:prstGeom prst="roundRect">
            <a:avLst>
              <a:gd name="adj" fmla="val 12585"/>
            </a:avLst>
          </a:prstGeom>
          <a:solidFill>
            <a:srgbClr val="FFF4DC"/>
          </a:solidFill>
          <a:ln w="6350">
            <a:solidFill>
              <a:srgbClr val="F0A202"/>
            </a:solidFill>
            <a:prstDash val="solid"/>
          </a:ln>
        </p:spPr>
      </p:sp>
      <p:pic>
        <p:nvPicPr>
          <p:cNvPr id="85" name="Image 1" descr="Warning">    </p:cNvPr>
          <p:cNvPicPr>
            <a:picLocks noChangeAspect="1"/>
          </p:cNvPicPr>
          <p:nvPr/>
        </p:nvPicPr>
        <p:blipFill>
          <a:blip r:embed="rId2"/>
          <a:srcRect l="0" r="0" t="-1222" b="-1222"/>
          <a:stretch/>
        </p:blipFill>
        <p:spPr>
          <a:xfrm>
            <a:off x="10706100" y="3652738"/>
            <a:ext cx="117773" cy="152400"/>
          </a:xfrm>
          <a:prstGeom prst="rect">
            <a:avLst/>
          </a:prstGeom>
        </p:spPr>
      </p:pic>
      <p:sp>
        <p:nvSpPr>
          <p:cNvPr id="86" name="Text 82"/>
          <p:cNvSpPr/>
          <p:nvPr/>
        </p:nvSpPr>
        <p:spPr>
          <a:xfrm>
            <a:off x="10861973" y="3652738"/>
            <a:ext cx="961727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Linkage to validate</a:t>
            </a:r>
            <a:endParaRPr lang="en-US" sz="1100" dirty="0"/>
          </a:p>
        </p:txBody>
      </p:sp>
      <p:sp>
        <p:nvSpPr>
          <p:cNvPr id="87" name="Shape 83"/>
          <p:cNvSpPr/>
          <p:nvPr/>
        </p:nvSpPr>
        <p:spPr>
          <a:xfrm>
            <a:off x="10648950" y="4059734"/>
            <a:ext cx="1181100" cy="0"/>
          </a:xfrm>
          <a:prstGeom prst="line">
            <a:avLst/>
          </a:prstGeom>
          <a:noFill/>
          <a:ln w="6350">
            <a:solidFill>
              <a:srgbClr val="CBD5E2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10648950" y="4113709"/>
            <a:ext cx="1231900" cy="52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405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In-house HPLC · COAs · Acumatica</a:t>
            </a:r>
            <a:endParaRPr lang="en-US" sz="1100" dirty="0"/>
          </a:p>
        </p:txBody>
      </p:sp>
      <p:sp>
        <p:nvSpPr>
          <p:cNvPr id="89" name="Shape 85"/>
          <p:cNvSpPr/>
          <p:nvPr/>
        </p:nvSpPr>
        <p:spPr>
          <a:xfrm>
            <a:off x="2190750" y="1250950"/>
            <a:ext cx="241300" cy="241300"/>
          </a:xfrm>
          <a:prstGeom prst="roundRect">
            <a:avLst>
              <a:gd name="adj" fmla="val 50000"/>
            </a:avLst>
          </a:prstGeom>
          <a:solidFill>
            <a:srgbClr val="1928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2171700" y="1257300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4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pic>
        <p:nvPicPr>
          <p:cNvPr id="91" name="Image 2" descr="Data state: Not measured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489200" y="1257300"/>
            <a:ext cx="228600" cy="228600"/>
          </a:xfrm>
          <a:prstGeom prst="rect">
            <a:avLst/>
          </a:prstGeom>
        </p:spPr>
      </p:pic>
      <p:sp>
        <p:nvSpPr>
          <p:cNvPr id="92" name="Text 87"/>
          <p:cNvSpPr/>
          <p:nvPr/>
        </p:nvSpPr>
        <p:spPr>
          <a:xfrm>
            <a:off x="2781300" y="1270000"/>
            <a:ext cx="4447540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Heptane solvent mass balance — not measured today</a:t>
            </a:r>
            <a:endParaRPr lang="en-US" sz="1200" dirty="0"/>
          </a:p>
        </p:txBody>
      </p:sp>
      <p:pic>
        <p:nvPicPr>
          <p:cNvPr id="93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562100" y="3060700"/>
            <a:ext cx="381000" cy="127000"/>
          </a:xfrm>
          <a:prstGeom prst="rect">
            <a:avLst/>
          </a:prstGeom>
        </p:spPr>
      </p:pic>
      <p:pic>
        <p:nvPicPr>
          <p:cNvPr id="94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213100" y="3060700"/>
            <a:ext cx="381000" cy="127000"/>
          </a:xfrm>
          <a:prstGeom prst="rect">
            <a:avLst/>
          </a:prstGeom>
        </p:spPr>
      </p:pic>
      <p:pic>
        <p:nvPicPr>
          <p:cNvPr id="95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864100" y="3060700"/>
            <a:ext cx="381000" cy="127000"/>
          </a:xfrm>
          <a:prstGeom prst="rect">
            <a:avLst/>
          </a:prstGeom>
        </p:spPr>
      </p:pic>
      <p:pic>
        <p:nvPicPr>
          <p:cNvPr id="96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921500" y="3060700"/>
            <a:ext cx="381000" cy="127000"/>
          </a:xfrm>
          <a:prstGeom prst="rect">
            <a:avLst/>
          </a:prstGeom>
        </p:spPr>
      </p:pic>
      <p:pic>
        <p:nvPicPr>
          <p:cNvPr id="97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572500" y="3060700"/>
            <a:ext cx="381000" cy="127000"/>
          </a:xfrm>
          <a:prstGeom prst="rect">
            <a:avLst/>
          </a:prstGeom>
        </p:spPr>
      </p:pic>
      <p:pic>
        <p:nvPicPr>
          <p:cNvPr id="98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223500" y="3060700"/>
            <a:ext cx="381000" cy="127000"/>
          </a:xfrm>
          <a:prstGeom prst="rect">
            <a:avLst/>
          </a:prstGeom>
        </p:spPr>
      </p:pic>
      <p:sp>
        <p:nvSpPr>
          <p:cNvPr id="99" name="Shape 88"/>
          <p:cNvSpPr/>
          <p:nvPr/>
        </p:nvSpPr>
        <p:spPr>
          <a:xfrm>
            <a:off x="1546225" y="3216275"/>
            <a:ext cx="412750" cy="18375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100" name="Text 89"/>
          <p:cNvSpPr/>
          <p:nvPr/>
        </p:nvSpPr>
        <p:spPr>
          <a:xfrm>
            <a:off x="1524000" y="3219450"/>
            <a:ext cx="457200" cy="2028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97"/>
              </a:lnSpc>
              <a:buNone/>
            </a:pPr>
            <a:r>
              <a:rPr lang="en-US" sz="1100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lot</a:t>
            </a:r>
            <a:endParaRPr lang="en-US" sz="1100" dirty="0"/>
          </a:p>
        </p:txBody>
      </p:sp>
      <p:sp>
        <p:nvSpPr>
          <p:cNvPr id="101" name="Shape 90"/>
          <p:cNvSpPr/>
          <p:nvPr/>
        </p:nvSpPr>
        <p:spPr>
          <a:xfrm>
            <a:off x="3197225" y="3216275"/>
            <a:ext cx="412750" cy="18375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102" name="Text 91"/>
          <p:cNvSpPr/>
          <p:nvPr/>
        </p:nvSpPr>
        <p:spPr>
          <a:xfrm>
            <a:off x="3175000" y="3219450"/>
            <a:ext cx="457200" cy="2028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97"/>
              </a:lnSpc>
              <a:buNone/>
            </a:pPr>
            <a:r>
              <a:rPr lang="en-US" sz="1100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tote</a:t>
            </a:r>
            <a:endParaRPr lang="en-US" sz="1100" dirty="0"/>
          </a:p>
        </p:txBody>
      </p:sp>
      <p:sp>
        <p:nvSpPr>
          <p:cNvPr id="103" name="Shape 92"/>
          <p:cNvSpPr/>
          <p:nvPr/>
        </p:nvSpPr>
        <p:spPr>
          <a:xfrm>
            <a:off x="4848225" y="3216275"/>
            <a:ext cx="412750" cy="18375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104" name="Text 93"/>
          <p:cNvSpPr/>
          <p:nvPr/>
        </p:nvSpPr>
        <p:spPr>
          <a:xfrm>
            <a:off x="4826000" y="3219450"/>
            <a:ext cx="457200" cy="2028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97"/>
              </a:lnSpc>
              <a:buNone/>
            </a:pPr>
            <a:r>
              <a:rPr lang="en-US" sz="1100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tote</a:t>
            </a:r>
            <a:endParaRPr lang="en-US" sz="1100" dirty="0"/>
          </a:p>
        </p:txBody>
      </p:sp>
      <p:sp>
        <p:nvSpPr>
          <p:cNvPr id="105" name="Shape 94"/>
          <p:cNvSpPr/>
          <p:nvPr/>
        </p:nvSpPr>
        <p:spPr>
          <a:xfrm>
            <a:off x="6905625" y="3216275"/>
            <a:ext cx="412750" cy="18375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106" name="Text 95"/>
          <p:cNvSpPr/>
          <p:nvPr/>
        </p:nvSpPr>
        <p:spPr>
          <a:xfrm>
            <a:off x="6883400" y="3219450"/>
            <a:ext cx="457200" cy="2028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97"/>
              </a:lnSpc>
              <a:buNone/>
            </a:pPr>
            <a:r>
              <a:rPr lang="en-US" sz="1100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batch</a:t>
            </a:r>
            <a:endParaRPr lang="en-US" sz="1100" dirty="0"/>
          </a:p>
        </p:txBody>
      </p:sp>
      <p:sp>
        <p:nvSpPr>
          <p:cNvPr id="107" name="Shape 96"/>
          <p:cNvSpPr/>
          <p:nvPr/>
        </p:nvSpPr>
        <p:spPr>
          <a:xfrm>
            <a:off x="8556625" y="3216275"/>
            <a:ext cx="412750" cy="18375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108" name="Text 97"/>
          <p:cNvSpPr/>
          <p:nvPr/>
        </p:nvSpPr>
        <p:spPr>
          <a:xfrm>
            <a:off x="8534400" y="3219450"/>
            <a:ext cx="457200" cy="2028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97"/>
              </a:lnSpc>
              <a:buNone/>
            </a:pPr>
            <a:r>
              <a:rPr lang="en-US" sz="1100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drum</a:t>
            </a:r>
            <a:endParaRPr lang="en-US" sz="1100" dirty="0"/>
          </a:p>
        </p:txBody>
      </p:sp>
      <p:sp>
        <p:nvSpPr>
          <p:cNvPr id="109" name="Shape 98"/>
          <p:cNvSpPr/>
          <p:nvPr/>
        </p:nvSpPr>
        <p:spPr>
          <a:xfrm>
            <a:off x="10207625" y="3216275"/>
            <a:ext cx="412750" cy="18375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110" name="Text 99"/>
          <p:cNvSpPr/>
          <p:nvPr/>
        </p:nvSpPr>
        <p:spPr>
          <a:xfrm>
            <a:off x="10185400" y="3219450"/>
            <a:ext cx="457200" cy="2028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97"/>
              </a:lnSpc>
              <a:buNone/>
            </a:pPr>
            <a:r>
              <a:rPr lang="en-US" sz="1100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run</a:t>
            </a:r>
            <a:endParaRPr lang="en-US" sz="1100" dirty="0"/>
          </a:p>
        </p:txBody>
      </p:sp>
      <p:pic>
        <p:nvPicPr>
          <p:cNvPr id="111" name="Image 9" descr="Data state: Structured digital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409700" y="1460500"/>
            <a:ext cx="279400" cy="279400"/>
          </a:xfrm>
          <a:prstGeom prst="rect">
            <a:avLst/>
          </a:prstGeom>
        </p:spPr>
      </p:pic>
      <p:pic>
        <p:nvPicPr>
          <p:cNvPr id="112" name="Image 10" descr="Data state: Displayed, not retained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060700" y="1460500"/>
            <a:ext cx="279400" cy="279400"/>
          </a:xfrm>
          <a:prstGeom prst="rect">
            <a:avLst/>
          </a:prstGeom>
        </p:spPr>
      </p:pic>
      <p:sp>
        <p:nvSpPr>
          <p:cNvPr id="113" name="Shape 100"/>
          <p:cNvSpPr/>
          <p:nvPr/>
        </p:nvSpPr>
        <p:spPr>
          <a:xfrm>
            <a:off x="1822450" y="1454150"/>
            <a:ext cx="241300" cy="241300"/>
          </a:xfrm>
          <a:prstGeom prst="roundRect">
            <a:avLst>
              <a:gd name="adj" fmla="val 50000"/>
            </a:avLst>
          </a:prstGeom>
          <a:solidFill>
            <a:srgbClr val="1928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Text 101"/>
          <p:cNvSpPr/>
          <p:nvPr/>
        </p:nvSpPr>
        <p:spPr>
          <a:xfrm>
            <a:off x="1803400" y="1460500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4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pic>
        <p:nvPicPr>
          <p:cNvPr id="115" name="Image 11" descr="Data state: Structured digital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711700" y="1460500"/>
            <a:ext cx="279400" cy="279400"/>
          </a:xfrm>
          <a:prstGeom prst="rect">
            <a:avLst/>
          </a:prstGeom>
        </p:spPr>
      </p:pic>
      <p:pic>
        <p:nvPicPr>
          <p:cNvPr id="116" name="Image 12" descr="Data state: Displayed, not retained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769100" y="1460500"/>
            <a:ext cx="279400" cy="279400"/>
          </a:xfrm>
          <a:prstGeom prst="rect">
            <a:avLst/>
          </a:prstGeom>
        </p:spPr>
      </p:pic>
      <p:sp>
        <p:nvSpPr>
          <p:cNvPr id="117" name="Shape 102"/>
          <p:cNvSpPr/>
          <p:nvPr/>
        </p:nvSpPr>
        <p:spPr>
          <a:xfrm>
            <a:off x="5124450" y="1454150"/>
            <a:ext cx="241300" cy="241300"/>
          </a:xfrm>
          <a:prstGeom prst="roundRect">
            <a:avLst>
              <a:gd name="adj" fmla="val 50000"/>
            </a:avLst>
          </a:prstGeom>
          <a:solidFill>
            <a:srgbClr val="1928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8" name="Text 103"/>
          <p:cNvSpPr/>
          <p:nvPr/>
        </p:nvSpPr>
        <p:spPr>
          <a:xfrm>
            <a:off x="5105400" y="1460500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4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pic>
        <p:nvPicPr>
          <p:cNvPr id="119" name="Image 13" descr="Data state: Manually entered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420100" y="1460500"/>
            <a:ext cx="279400" cy="279400"/>
          </a:xfrm>
          <a:prstGeom prst="rect">
            <a:avLst/>
          </a:prstGeom>
        </p:spPr>
      </p:pic>
      <p:sp>
        <p:nvSpPr>
          <p:cNvPr id="120" name="Shape 104"/>
          <p:cNvSpPr/>
          <p:nvPr/>
        </p:nvSpPr>
        <p:spPr>
          <a:xfrm>
            <a:off x="7181850" y="1454150"/>
            <a:ext cx="241300" cy="241300"/>
          </a:xfrm>
          <a:prstGeom prst="roundRect">
            <a:avLst>
              <a:gd name="adj" fmla="val 50000"/>
            </a:avLst>
          </a:prstGeom>
          <a:solidFill>
            <a:srgbClr val="1928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1" name="Text 105"/>
          <p:cNvSpPr/>
          <p:nvPr/>
        </p:nvSpPr>
        <p:spPr>
          <a:xfrm>
            <a:off x="7162800" y="1460500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4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  <p:pic>
        <p:nvPicPr>
          <p:cNvPr id="122" name="Image 14" descr="Data state: Manually entered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0071100" y="1460500"/>
            <a:ext cx="279400" cy="279400"/>
          </a:xfrm>
          <a:prstGeom prst="rect">
            <a:avLst/>
          </a:prstGeom>
        </p:spPr>
      </p:pic>
      <p:sp>
        <p:nvSpPr>
          <p:cNvPr id="123" name="Shape 106"/>
          <p:cNvSpPr/>
          <p:nvPr/>
        </p:nvSpPr>
        <p:spPr>
          <a:xfrm>
            <a:off x="8832850" y="1454150"/>
            <a:ext cx="241300" cy="241300"/>
          </a:xfrm>
          <a:prstGeom prst="roundRect">
            <a:avLst>
              <a:gd name="adj" fmla="val 50000"/>
            </a:avLst>
          </a:prstGeom>
          <a:solidFill>
            <a:srgbClr val="1928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Text 107"/>
          <p:cNvSpPr/>
          <p:nvPr/>
        </p:nvSpPr>
        <p:spPr>
          <a:xfrm>
            <a:off x="8813800" y="1460500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4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  <p:pic>
        <p:nvPicPr>
          <p:cNvPr id="125" name="Image 15" descr="Data state: Manually entered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1722100" y="1460500"/>
            <a:ext cx="279400" cy="279400"/>
          </a:xfrm>
          <a:prstGeom prst="rect">
            <a:avLst/>
          </a:prstGeom>
        </p:spPr>
      </p:pic>
      <p:sp>
        <p:nvSpPr>
          <p:cNvPr id="126" name="Shape 108"/>
          <p:cNvSpPr/>
          <p:nvPr/>
        </p:nvSpPr>
        <p:spPr>
          <a:xfrm>
            <a:off x="10483850" y="1454150"/>
            <a:ext cx="241300" cy="241300"/>
          </a:xfrm>
          <a:prstGeom prst="roundRect">
            <a:avLst>
              <a:gd name="adj" fmla="val 50000"/>
            </a:avLst>
          </a:prstGeom>
          <a:solidFill>
            <a:srgbClr val="1928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7" name="Text 109"/>
          <p:cNvSpPr/>
          <p:nvPr/>
        </p:nvSpPr>
        <p:spPr>
          <a:xfrm>
            <a:off x="10464800" y="1460500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4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  <p:pic>
        <p:nvPicPr>
          <p:cNvPr id="128" name="Image 16" descr="connector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876300" y="4660900"/>
            <a:ext cx="101600" cy="393700"/>
          </a:xfrm>
          <a:prstGeom prst="rect">
            <a:avLst/>
          </a:prstGeom>
        </p:spPr>
      </p:pic>
      <p:pic>
        <p:nvPicPr>
          <p:cNvPr id="129" name="Image 17" descr="connector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2527300" y="4660900"/>
            <a:ext cx="101600" cy="393700"/>
          </a:xfrm>
          <a:prstGeom prst="rect">
            <a:avLst/>
          </a:prstGeom>
        </p:spPr>
      </p:pic>
      <p:sp>
        <p:nvSpPr>
          <p:cNvPr id="130" name="Text 110"/>
          <p:cNvSpPr/>
          <p:nvPr/>
        </p:nvSpPr>
        <p:spPr>
          <a:xfrm>
            <a:off x="2641600" y="4813300"/>
            <a:ext cx="1511300" cy="178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100" i="1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PLC data not stored</a:t>
            </a:r>
            <a:endParaRPr lang="en-US" sz="1100" dirty="0"/>
          </a:p>
        </p:txBody>
      </p:sp>
      <p:pic>
        <p:nvPicPr>
          <p:cNvPr id="131" name="Image 18" descr="connector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4178300" y="4660900"/>
            <a:ext cx="101600" cy="393700"/>
          </a:xfrm>
          <a:prstGeom prst="rect">
            <a:avLst/>
          </a:prstGeom>
        </p:spPr>
      </p:pic>
      <p:pic>
        <p:nvPicPr>
          <p:cNvPr id="132" name="Image 19" descr="connector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6032500" y="4660900"/>
            <a:ext cx="101600" cy="393700"/>
          </a:xfrm>
          <a:prstGeom prst="rect">
            <a:avLst/>
          </a:prstGeom>
        </p:spPr>
      </p:pic>
      <p:sp>
        <p:nvSpPr>
          <p:cNvPr id="133" name="Text 111"/>
          <p:cNvSpPr/>
          <p:nvPr/>
        </p:nvSpPr>
        <p:spPr>
          <a:xfrm>
            <a:off x="6146800" y="4813300"/>
            <a:ext cx="1511300" cy="178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100" i="1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PLC data not stored</a:t>
            </a:r>
            <a:endParaRPr lang="en-US" sz="1100" dirty="0"/>
          </a:p>
        </p:txBody>
      </p:sp>
      <p:pic>
        <p:nvPicPr>
          <p:cNvPr id="134" name="Image 20" descr="connector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7886700" y="4660900"/>
            <a:ext cx="101600" cy="393700"/>
          </a:xfrm>
          <a:prstGeom prst="rect">
            <a:avLst/>
          </a:prstGeom>
        </p:spPr>
      </p:pic>
      <p:pic>
        <p:nvPicPr>
          <p:cNvPr id="135" name="Image 21" descr="connector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9537700" y="4660900"/>
            <a:ext cx="101600" cy="393700"/>
          </a:xfrm>
          <a:prstGeom prst="rect">
            <a:avLst/>
          </a:prstGeom>
        </p:spPr>
      </p:pic>
      <p:pic>
        <p:nvPicPr>
          <p:cNvPr id="136" name="Image 22" descr="connector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11188700" y="4660900"/>
            <a:ext cx="101600" cy="393700"/>
          </a:xfrm>
          <a:prstGeom prst="rect">
            <a:avLst/>
          </a:prstGeom>
        </p:spPr>
      </p:pic>
      <p:sp>
        <p:nvSpPr>
          <p:cNvPr id="137" name="Shape 112"/>
          <p:cNvSpPr/>
          <p:nvPr/>
        </p:nvSpPr>
        <p:spPr>
          <a:xfrm>
            <a:off x="254000" y="5016500"/>
            <a:ext cx="11658600" cy="330200"/>
          </a:xfrm>
          <a:prstGeom prst="roundRect">
            <a:avLst>
              <a:gd name="adj" fmla="val 19231"/>
            </a:avLst>
          </a:prstGeom>
          <a:solidFill>
            <a:srgbClr val="192839"/>
          </a:solidFill>
          <a:ln/>
        </p:spPr>
      </p:sp>
      <p:sp>
        <p:nvSpPr>
          <p:cNvPr id="138" name="Text 113"/>
          <p:cNvSpPr/>
          <p:nvPr/>
        </p:nvSpPr>
        <p:spPr>
          <a:xfrm>
            <a:off x="368300" y="5083770"/>
            <a:ext cx="151993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AFC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BACKBONE</a:t>
            </a:r>
            <a:endParaRPr lang="en-US" sz="1100" dirty="0"/>
          </a:p>
        </p:txBody>
      </p:sp>
      <p:sp>
        <p:nvSpPr>
          <p:cNvPr id="139" name="Shape 114"/>
          <p:cNvSpPr/>
          <p:nvPr/>
        </p:nvSpPr>
        <p:spPr>
          <a:xfrm>
            <a:off x="1913632" y="5066705"/>
            <a:ext cx="1529060" cy="229791"/>
          </a:xfrm>
          <a:prstGeom prst="roundRect">
            <a:avLst>
              <a:gd name="adj" fmla="val 16580"/>
            </a:avLst>
          </a:prstGeom>
          <a:solidFill>
            <a:srgbClr val="2C4260"/>
          </a:solidFill>
          <a:ln/>
        </p:spPr>
      </p:sp>
      <p:sp>
        <p:nvSpPr>
          <p:cNvPr id="140" name="Text 115"/>
          <p:cNvSpPr/>
          <p:nvPr/>
        </p:nvSpPr>
        <p:spPr>
          <a:xfrm>
            <a:off x="2002532" y="5104805"/>
            <a:ext cx="1402060" cy="178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Browser / tablet apps</a:t>
            </a:r>
            <a:endParaRPr lang="en-US" sz="1100" dirty="0"/>
          </a:p>
        </p:txBody>
      </p:sp>
      <p:sp>
        <p:nvSpPr>
          <p:cNvPr id="141" name="Text 116"/>
          <p:cNvSpPr/>
          <p:nvPr/>
        </p:nvSpPr>
        <p:spPr>
          <a:xfrm>
            <a:off x="3518892" y="5074940"/>
            <a:ext cx="20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200" dirty="0"/>
          </a:p>
        </p:txBody>
      </p:sp>
      <p:sp>
        <p:nvSpPr>
          <p:cNvPr id="142" name="Shape 117"/>
          <p:cNvSpPr/>
          <p:nvPr/>
        </p:nvSpPr>
        <p:spPr>
          <a:xfrm>
            <a:off x="3747492" y="5066705"/>
            <a:ext cx="1296888" cy="229791"/>
          </a:xfrm>
          <a:prstGeom prst="roundRect">
            <a:avLst>
              <a:gd name="adj" fmla="val 16580"/>
            </a:avLst>
          </a:prstGeom>
          <a:solidFill>
            <a:srgbClr val="2C4260"/>
          </a:solidFill>
          <a:ln/>
        </p:spPr>
      </p:sp>
      <p:sp>
        <p:nvSpPr>
          <p:cNvPr id="143" name="Text 118"/>
          <p:cNvSpPr/>
          <p:nvPr/>
        </p:nvSpPr>
        <p:spPr>
          <a:xfrm>
            <a:off x="3836392" y="5104805"/>
            <a:ext cx="1169888" cy="178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Google Cloud Run</a:t>
            </a:r>
            <a:endParaRPr lang="en-US" sz="1100" dirty="0"/>
          </a:p>
        </p:txBody>
      </p:sp>
      <p:sp>
        <p:nvSpPr>
          <p:cNvPr id="144" name="Text 119"/>
          <p:cNvSpPr/>
          <p:nvPr/>
        </p:nvSpPr>
        <p:spPr>
          <a:xfrm>
            <a:off x="5120580" y="5074940"/>
            <a:ext cx="20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200" dirty="0"/>
          </a:p>
        </p:txBody>
      </p:sp>
      <p:sp>
        <p:nvSpPr>
          <p:cNvPr id="145" name="Shape 120"/>
          <p:cNvSpPr/>
          <p:nvPr/>
        </p:nvSpPr>
        <p:spPr>
          <a:xfrm>
            <a:off x="5349180" y="5066705"/>
            <a:ext cx="1717675" cy="229791"/>
          </a:xfrm>
          <a:prstGeom prst="roundRect">
            <a:avLst>
              <a:gd name="adj" fmla="val 16580"/>
            </a:avLst>
          </a:prstGeom>
          <a:solidFill>
            <a:srgbClr val="2C4260"/>
          </a:solidFill>
          <a:ln/>
        </p:spPr>
      </p:sp>
      <p:sp>
        <p:nvSpPr>
          <p:cNvPr id="146" name="Text 121"/>
          <p:cNvSpPr/>
          <p:nvPr/>
        </p:nvSpPr>
        <p:spPr>
          <a:xfrm>
            <a:off x="5438080" y="5104805"/>
            <a:ext cx="1590675" cy="178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Cloud SQL (PostgreSQL)</a:t>
            </a:r>
            <a:endParaRPr lang="en-US" sz="1100" dirty="0"/>
          </a:p>
        </p:txBody>
      </p:sp>
      <p:sp>
        <p:nvSpPr>
          <p:cNvPr id="147" name="Text 122"/>
          <p:cNvSpPr/>
          <p:nvPr/>
        </p:nvSpPr>
        <p:spPr>
          <a:xfrm>
            <a:off x="7143055" y="5074940"/>
            <a:ext cx="20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200" dirty="0"/>
          </a:p>
        </p:txBody>
      </p:sp>
      <p:sp>
        <p:nvSpPr>
          <p:cNvPr id="148" name="Shape 123"/>
          <p:cNvSpPr/>
          <p:nvPr/>
        </p:nvSpPr>
        <p:spPr>
          <a:xfrm>
            <a:off x="7371655" y="5066705"/>
            <a:ext cx="1077317" cy="229791"/>
          </a:xfrm>
          <a:prstGeom prst="roundRect">
            <a:avLst>
              <a:gd name="adj" fmla="val 16580"/>
            </a:avLst>
          </a:prstGeom>
          <a:solidFill>
            <a:srgbClr val="2C4260"/>
          </a:solidFill>
          <a:ln/>
        </p:spPr>
      </p:sp>
      <p:sp>
        <p:nvSpPr>
          <p:cNvPr id="149" name="Text 124"/>
          <p:cNvSpPr/>
          <p:nvPr/>
        </p:nvSpPr>
        <p:spPr>
          <a:xfrm>
            <a:off x="7460555" y="5104805"/>
            <a:ext cx="950317" cy="178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Cloud Storage</a:t>
            </a:r>
            <a:endParaRPr lang="en-US" sz="1100" dirty="0"/>
          </a:p>
        </p:txBody>
      </p:sp>
      <p:sp>
        <p:nvSpPr>
          <p:cNvPr id="150" name="Shape 125"/>
          <p:cNvSpPr/>
          <p:nvPr/>
        </p:nvSpPr>
        <p:spPr>
          <a:xfrm>
            <a:off x="10621169" y="5066705"/>
            <a:ext cx="1227931" cy="229791"/>
          </a:xfrm>
          <a:prstGeom prst="roundRect">
            <a:avLst>
              <a:gd name="adj" fmla="val 16580"/>
            </a:avLst>
          </a:prstGeom>
          <a:solidFill>
            <a:srgbClr val="2C4260"/>
          </a:solidFill>
          <a:ln/>
        </p:spPr>
      </p:sp>
      <p:sp>
        <p:nvSpPr>
          <p:cNvPr id="151" name="Text 126"/>
          <p:cNvSpPr/>
          <p:nvPr/>
        </p:nvSpPr>
        <p:spPr>
          <a:xfrm>
            <a:off x="10710069" y="5104805"/>
            <a:ext cx="1100931" cy="178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Acumatica (ERP)</a:t>
            </a:r>
            <a:endParaRPr lang="en-US" sz="1100" dirty="0"/>
          </a:p>
        </p:txBody>
      </p:sp>
      <p:sp>
        <p:nvSpPr>
          <p:cNvPr id="152" name="Text 127"/>
          <p:cNvSpPr/>
          <p:nvPr/>
        </p:nvSpPr>
        <p:spPr>
          <a:xfrm>
            <a:off x="254000" y="5435600"/>
            <a:ext cx="667131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405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KEY DATA IS CAPTURED TODAY</a:t>
            </a:r>
            <a:endParaRPr lang="en-US" sz="1100" dirty="0"/>
          </a:p>
        </p:txBody>
      </p:sp>
      <p:pic>
        <p:nvPicPr>
          <p:cNvPr id="153" name="Image 23" descr="Data state: Structured digital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254000" y="5681960"/>
            <a:ext cx="228600" cy="228600"/>
          </a:xfrm>
          <a:prstGeom prst="rect">
            <a:avLst/>
          </a:prstGeom>
        </p:spPr>
      </p:pic>
      <p:sp>
        <p:nvSpPr>
          <p:cNvPr id="154" name="Text 128"/>
          <p:cNvSpPr/>
          <p:nvPr/>
        </p:nvSpPr>
        <p:spPr>
          <a:xfrm>
            <a:off x="558800" y="5715893"/>
            <a:ext cx="1124347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Structured digital</a:t>
            </a:r>
            <a:endParaRPr lang="en-US" sz="1100" dirty="0"/>
          </a:p>
        </p:txBody>
      </p:sp>
      <p:pic>
        <p:nvPicPr>
          <p:cNvPr id="155" name="Image 24" descr="Data state: Manually entered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2413000" y="5681960"/>
            <a:ext cx="228600" cy="228600"/>
          </a:xfrm>
          <a:prstGeom prst="rect">
            <a:avLst/>
          </a:prstGeom>
        </p:spPr>
      </p:pic>
      <p:sp>
        <p:nvSpPr>
          <p:cNvPr id="156" name="Text 129"/>
          <p:cNvSpPr/>
          <p:nvPr/>
        </p:nvSpPr>
        <p:spPr>
          <a:xfrm>
            <a:off x="2717800" y="5715893"/>
            <a:ext cx="1127026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Manually entered</a:t>
            </a:r>
            <a:endParaRPr lang="en-US" sz="1100" dirty="0"/>
          </a:p>
        </p:txBody>
      </p:sp>
      <p:pic>
        <p:nvPicPr>
          <p:cNvPr id="157" name="Image 25" descr="Data state: Displayed, not retained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4572000" y="5681960"/>
            <a:ext cx="228600" cy="228600"/>
          </a:xfrm>
          <a:prstGeom prst="rect">
            <a:avLst/>
          </a:prstGeom>
        </p:spPr>
      </p:pic>
      <p:sp>
        <p:nvSpPr>
          <p:cNvPr id="158" name="Text 130"/>
          <p:cNvSpPr/>
          <p:nvPr/>
        </p:nvSpPr>
        <p:spPr>
          <a:xfrm>
            <a:off x="4876800" y="5715893"/>
            <a:ext cx="1485801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Displayed, not retained</a:t>
            </a:r>
            <a:endParaRPr lang="en-US" sz="1100" dirty="0"/>
          </a:p>
        </p:txBody>
      </p:sp>
      <p:pic>
        <p:nvPicPr>
          <p:cNvPr id="159" name="Image 26" descr="Data state: Paper record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254000" y="5974060"/>
            <a:ext cx="228600" cy="228600"/>
          </a:xfrm>
          <a:prstGeom prst="rect">
            <a:avLst/>
          </a:prstGeom>
        </p:spPr>
      </p:pic>
      <p:sp>
        <p:nvSpPr>
          <p:cNvPr id="160" name="Text 131"/>
          <p:cNvSpPr/>
          <p:nvPr/>
        </p:nvSpPr>
        <p:spPr>
          <a:xfrm>
            <a:off x="558800" y="6007993"/>
            <a:ext cx="866874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Paper record</a:t>
            </a:r>
            <a:endParaRPr lang="en-US" sz="1100" dirty="0"/>
          </a:p>
        </p:txBody>
      </p:sp>
      <p:pic>
        <p:nvPicPr>
          <p:cNvPr id="161" name="Image 27" descr="Data state: Not measured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2413000" y="5974060"/>
            <a:ext cx="228600" cy="228600"/>
          </a:xfrm>
          <a:prstGeom prst="rect">
            <a:avLst/>
          </a:prstGeom>
        </p:spPr>
      </p:pic>
      <p:sp>
        <p:nvSpPr>
          <p:cNvPr id="162" name="Text 132"/>
          <p:cNvSpPr/>
          <p:nvPr/>
        </p:nvSpPr>
        <p:spPr>
          <a:xfrm>
            <a:off x="2717800" y="6007993"/>
            <a:ext cx="924917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measured</a:t>
            </a:r>
            <a:endParaRPr lang="en-US" sz="1100" dirty="0"/>
          </a:p>
        </p:txBody>
      </p:sp>
      <p:sp>
        <p:nvSpPr>
          <p:cNvPr id="163" name="Shape 133"/>
          <p:cNvSpPr/>
          <p:nvPr/>
        </p:nvSpPr>
        <p:spPr>
          <a:xfrm>
            <a:off x="254000" y="62915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92839"/>
          </a:solidFill>
          <a:ln/>
        </p:spPr>
      </p:sp>
      <p:sp>
        <p:nvSpPr>
          <p:cNvPr id="164" name="Text 134"/>
          <p:cNvSpPr/>
          <p:nvPr/>
        </p:nvSpPr>
        <p:spPr>
          <a:xfrm>
            <a:off x="228600" y="6291560"/>
            <a:ext cx="241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96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</a:t>
            </a:r>
            <a:endParaRPr lang="en-US" sz="1100" dirty="0"/>
          </a:p>
        </p:txBody>
      </p:sp>
      <p:sp>
        <p:nvSpPr>
          <p:cNvPr id="165" name="Text 135"/>
          <p:cNvSpPr/>
          <p:nvPr/>
        </p:nvSpPr>
        <p:spPr>
          <a:xfrm>
            <a:off x="508000" y="6306443"/>
            <a:ext cx="4074425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Numbered badges = Faclon opportunity priority (from pre-read)</a:t>
            </a:r>
            <a:endParaRPr lang="en-US" sz="1100" dirty="0"/>
          </a:p>
        </p:txBody>
      </p:sp>
      <p:sp>
        <p:nvSpPr>
          <p:cNvPr id="166" name="Shape 136"/>
          <p:cNvSpPr/>
          <p:nvPr/>
        </p:nvSpPr>
        <p:spPr>
          <a:xfrm>
            <a:off x="6985000" y="5435600"/>
            <a:ext cx="4927600" cy="957560"/>
          </a:xfrm>
          <a:prstGeom prst="roundRect">
            <a:avLst>
              <a:gd name="adj" fmla="val 7958"/>
            </a:avLst>
          </a:prstGeom>
          <a:solidFill>
            <a:srgbClr val="F1F5FA"/>
          </a:solidFill>
          <a:ln/>
        </p:spPr>
      </p:sp>
      <p:sp>
        <p:nvSpPr>
          <p:cNvPr id="167" name="Shape 137"/>
          <p:cNvSpPr/>
          <p:nvPr/>
        </p:nvSpPr>
        <p:spPr>
          <a:xfrm>
            <a:off x="7004050" y="5435600"/>
            <a:ext cx="0" cy="957560"/>
          </a:xfrm>
          <a:prstGeom prst="line">
            <a:avLst/>
          </a:prstGeom>
          <a:noFill/>
          <a:ln w="38100">
            <a:solidFill>
              <a:srgbClr val="2F55D4"/>
            </a:solidFill>
            <a:prstDash val="solid"/>
          </a:ln>
        </p:spPr>
      </p:sp>
      <p:sp>
        <p:nvSpPr>
          <p:cNvPr id="168" name="Text 138"/>
          <p:cNvSpPr/>
          <p:nvPr/>
        </p:nvSpPr>
        <p:spPr>
          <a:xfrm>
            <a:off x="7175500" y="5562600"/>
            <a:ext cx="472224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2F55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QUESTION THIS LINE SHOULD ANSWER</a:t>
            </a:r>
            <a:endParaRPr lang="en-US" sz="1100" dirty="0"/>
          </a:p>
        </p:txBody>
      </p:sp>
      <p:sp>
        <p:nvSpPr>
          <p:cNvPr id="169" name="Text 139"/>
          <p:cNvSpPr/>
          <p:nvPr/>
        </p:nvSpPr>
        <p:spPr>
          <a:xfrm>
            <a:off x="7175500" y="5808960"/>
            <a:ext cx="472224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“Where is heptane actually being lost, and what is solvent loss per kg of finished MIT?”</a:t>
            </a:r>
            <a:endParaRPr lang="en-US" sz="1500" dirty="0"/>
          </a:p>
        </p:txBody>
      </p:sp>
      <p:sp>
        <p:nvSpPr>
          <p:cNvPr id="170" name="Text 140"/>
          <p:cNvSpPr/>
          <p:nvPr/>
        </p:nvSpPr>
        <p:spPr>
          <a:xfrm>
            <a:off x="6837172" y="6527800"/>
            <a:ext cx="507542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9AA1B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Current state per OBX Operations &amp; Data Pre-Read (Sept 2026). To be validated onsite.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981075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2F55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FACLON LABS × OPEN BOOK EXTRACTS · LINE 2 OF 2 · CURRENT STATE</a:t>
            </a:r>
            <a:endParaRPr lang="en-US" sz="1100" dirty="0"/>
          </a:p>
        </p:txBody>
      </p:sp>
      <p:pic>
        <p:nvPicPr>
          <p:cNvPr id="3" name="Image 0" descr="Faclon Labs">    </p:cNvPr>
          <p:cNvPicPr>
            <a:picLocks noChangeAspect="1"/>
          </p:cNvPicPr>
          <p:nvPr/>
        </p:nvPicPr>
        <p:blipFill>
          <a:blip r:embed="rId1"/>
          <a:srcRect l="0" r="0" t="-63" b="-63"/>
          <a:stretch/>
        </p:blipFill>
        <p:spPr>
          <a:xfrm>
            <a:off x="10795000" y="215900"/>
            <a:ext cx="1117600" cy="25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4000" y="482600"/>
            <a:ext cx="1200835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dirty="0">
                <a:solidFill>
                  <a:srgbClr val="2F55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Bulk Cannabinoids: Well-controlled on paper, ready for eBPR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254000" y="850900"/>
            <a:ext cx="1200835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Batch distillation, crystallization and conversion run on controlled paper BPRs and local equipment displays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57175" y="1171575"/>
            <a:ext cx="1206500" cy="3041650"/>
          </a:xfrm>
          <a:prstGeom prst="roundRect">
            <a:avLst>
              <a:gd name="adj" fmla="val 6053"/>
            </a:avLst>
          </a:prstGeom>
          <a:solidFill>
            <a:srgbClr val="F1F5FA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6550" y="1250950"/>
            <a:ext cx="1098550" cy="19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2F55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r>
              <a:rPr lang="en-US" sz="1200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 Crude / WDC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6550" y="1469330"/>
            <a:ext cx="1098550" cy="52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Receive crude oil and open the batch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6550" y="2022872"/>
            <a:ext cx="865783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10" name="Text 7"/>
          <p:cNvSpPr/>
          <p:nvPr/>
        </p:nvSpPr>
        <p:spPr>
          <a:xfrm>
            <a:off x="400050" y="2041922"/>
            <a:ext cx="789583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batch/lot ID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6550" y="2259707"/>
            <a:ext cx="788789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12" name="Text 9"/>
          <p:cNvSpPr/>
          <p:nvPr/>
        </p:nvSpPr>
        <p:spPr>
          <a:xfrm>
            <a:off x="400050" y="2278757"/>
            <a:ext cx="712589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input mass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6550" y="2496542"/>
            <a:ext cx="1047750" cy="359370"/>
          </a:xfrm>
          <a:prstGeom prst="roundRect">
            <a:avLst>
              <a:gd name="adj" fmla="val 24738"/>
            </a:avLst>
          </a:prstGeom>
          <a:solidFill>
            <a:srgbClr val="E6EBFA"/>
          </a:solidFill>
          <a:ln/>
        </p:spPr>
      </p:sp>
      <p:sp>
        <p:nvSpPr>
          <p:cNvPr id="14" name="Text 11"/>
          <p:cNvSpPr/>
          <p:nvPr/>
        </p:nvSpPr>
        <p:spPr>
          <a:xfrm>
            <a:off x="400050" y="2515592"/>
            <a:ext cx="97155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material identity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6550" y="3744714"/>
            <a:ext cx="1047750" cy="0"/>
          </a:xfrm>
          <a:prstGeom prst="line">
            <a:avLst/>
          </a:prstGeom>
          <a:noFill/>
          <a:ln w="6350">
            <a:solidFill>
              <a:srgbClr val="CBD5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6550" y="3798689"/>
            <a:ext cx="1098550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405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BPR · Acumatica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800225" y="1171575"/>
            <a:ext cx="1206500" cy="3041650"/>
          </a:xfrm>
          <a:prstGeom prst="roundRect">
            <a:avLst>
              <a:gd name="adj" fmla="val 6053"/>
            </a:avLst>
          </a:prstGeom>
          <a:solidFill>
            <a:srgbClr val="F1F5FA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79600" y="1250950"/>
            <a:ext cx="1098550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2F55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r>
              <a:rPr lang="en-US" sz="1200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 1M WFE deterp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879600" y="1636911"/>
            <a:ext cx="1098550" cy="52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First wiped-film pass to strip light terpenes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879600" y="2190452"/>
            <a:ext cx="609203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21" name="Text 18"/>
          <p:cNvSpPr/>
          <p:nvPr/>
        </p:nvSpPr>
        <p:spPr>
          <a:xfrm>
            <a:off x="1943100" y="2209502"/>
            <a:ext cx="533003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vacuum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879600" y="2427288"/>
            <a:ext cx="1047750" cy="359370"/>
          </a:xfrm>
          <a:prstGeom prst="roundRect">
            <a:avLst>
              <a:gd name="adj" fmla="val 24738"/>
            </a:avLst>
          </a:prstGeom>
          <a:solidFill>
            <a:srgbClr val="E6EBFA"/>
          </a:solidFill>
          <a:ln/>
        </p:spPr>
      </p:sp>
      <p:sp>
        <p:nvSpPr>
          <p:cNvPr id="23" name="Text 20"/>
          <p:cNvSpPr/>
          <p:nvPr/>
        </p:nvSpPr>
        <p:spPr>
          <a:xfrm>
            <a:off x="1943100" y="2446338"/>
            <a:ext cx="97155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temperature set/actual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879600" y="2824758"/>
            <a:ext cx="998240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25" name="Text 22"/>
          <p:cNvSpPr/>
          <p:nvPr/>
        </p:nvSpPr>
        <p:spPr>
          <a:xfrm>
            <a:off x="1943100" y="2843808"/>
            <a:ext cx="922040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feed &amp; run-off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879600" y="3061593"/>
            <a:ext cx="498673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27" name="Text 24"/>
          <p:cNvSpPr/>
          <p:nvPr/>
        </p:nvSpPr>
        <p:spPr>
          <a:xfrm>
            <a:off x="1943100" y="3080643"/>
            <a:ext cx="422473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chiller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882775" y="3489424"/>
            <a:ext cx="1041400" cy="3657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BD5E2"/>
            </a:solidFill>
            <a:prstDash val="solid"/>
          </a:ln>
        </p:spPr>
      </p:sp>
      <p:pic>
        <p:nvPicPr>
          <p:cNvPr id="29" name="Image 1" descr="Clock">    </p:cNvPr>
          <p:cNvPicPr>
            <a:picLocks noChangeAspect="1"/>
          </p:cNvPicPr>
          <p:nvPr/>
        </p:nvPicPr>
        <p:blipFill>
          <a:blip r:embed="rId2"/>
          <a:srcRect l="0" r="0" t="-306" b="-306"/>
          <a:stretch/>
        </p:blipFill>
        <p:spPr>
          <a:xfrm>
            <a:off x="1949450" y="3596084"/>
            <a:ext cx="113605" cy="1524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2101155" y="3511649"/>
            <a:ext cx="807145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2-hour snapshot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1879600" y="3912295"/>
            <a:ext cx="1047750" cy="0"/>
          </a:xfrm>
          <a:prstGeom prst="line">
            <a:avLst/>
          </a:prstGeom>
          <a:noFill/>
          <a:ln w="6350">
            <a:solidFill>
              <a:srgbClr val="CBD5E2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879600" y="3966270"/>
            <a:ext cx="1098550" cy="19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405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FOR-BIP-009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3343275" y="1171575"/>
            <a:ext cx="1581150" cy="3041650"/>
          </a:xfrm>
          <a:prstGeom prst="roundRect">
            <a:avLst>
              <a:gd name="adj" fmla="val 4618"/>
            </a:avLst>
          </a:prstGeom>
          <a:solidFill>
            <a:srgbClr val="F1F5FA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422650" y="1250950"/>
            <a:ext cx="1473200" cy="354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1193" b="1" dirty="0">
                <a:solidFill>
                  <a:srgbClr val="2F55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r>
              <a:rPr lang="en-US" sz="1193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 2M WFE distillation / FSD</a:t>
            </a:r>
            <a:endParaRPr lang="en-US" sz="1193" dirty="0"/>
          </a:p>
        </p:txBody>
      </p:sp>
      <p:sp>
        <p:nvSpPr>
          <p:cNvPr id="35" name="Text 31"/>
          <p:cNvSpPr/>
          <p:nvPr/>
        </p:nvSpPr>
        <p:spPr>
          <a:xfrm>
            <a:off x="3422650" y="1630363"/>
            <a:ext cx="1473200" cy="518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i="1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Second pass to distill the cannabinoid fraction</a:t>
            </a:r>
            <a:endParaRPr lang="en-US" sz="1090" dirty="0"/>
          </a:p>
        </p:txBody>
      </p:sp>
      <p:sp>
        <p:nvSpPr>
          <p:cNvPr id="36" name="Shape 32"/>
          <p:cNvSpPr/>
          <p:nvPr/>
        </p:nvSpPr>
        <p:spPr>
          <a:xfrm>
            <a:off x="3422650" y="2174280"/>
            <a:ext cx="802382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37" name="Text 33"/>
          <p:cNvSpPr/>
          <p:nvPr/>
        </p:nvSpPr>
        <p:spPr>
          <a:xfrm>
            <a:off x="3486150" y="2193330"/>
            <a:ext cx="726182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wiper/feed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3422650" y="2411115"/>
            <a:ext cx="609203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39" name="Text 35"/>
          <p:cNvSpPr/>
          <p:nvPr/>
        </p:nvSpPr>
        <p:spPr>
          <a:xfrm>
            <a:off x="3486150" y="2430165"/>
            <a:ext cx="533003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vacuum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4069953" y="2411115"/>
            <a:ext cx="451941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41" name="Text 37"/>
          <p:cNvSpPr/>
          <p:nvPr/>
        </p:nvSpPr>
        <p:spPr>
          <a:xfrm>
            <a:off x="4133453" y="2430165"/>
            <a:ext cx="375741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temp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3422650" y="2647950"/>
            <a:ext cx="1422400" cy="359370"/>
          </a:xfrm>
          <a:prstGeom prst="roundRect">
            <a:avLst>
              <a:gd name="adj" fmla="val 24738"/>
            </a:avLst>
          </a:prstGeom>
          <a:solidFill>
            <a:srgbClr val="E6EBFA"/>
          </a:solidFill>
          <a:ln/>
        </p:spPr>
      </p:sp>
      <p:sp>
        <p:nvSpPr>
          <p:cNvPr id="43" name="Text 39"/>
          <p:cNvSpPr/>
          <p:nvPr/>
        </p:nvSpPr>
        <p:spPr>
          <a:xfrm>
            <a:off x="3486150" y="2667000"/>
            <a:ext cx="134620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evaporator &amp; condenser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3422650" y="3045420"/>
            <a:ext cx="883543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45" name="Text 41"/>
          <p:cNvSpPr/>
          <p:nvPr/>
        </p:nvSpPr>
        <p:spPr>
          <a:xfrm>
            <a:off x="3486150" y="3064470"/>
            <a:ext cx="807343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output mass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3425825" y="3328491"/>
            <a:ext cx="1416050" cy="529828"/>
          </a:xfrm>
          <a:prstGeom prst="roundRect">
            <a:avLst>
              <a:gd name="adj" fmla="val 8989"/>
            </a:avLst>
          </a:prstGeom>
          <a:solidFill>
            <a:srgbClr val="FFF4DC"/>
          </a:solidFill>
          <a:ln w="6350">
            <a:solidFill>
              <a:srgbClr val="F0A202"/>
            </a:solidFill>
            <a:prstDash val="solid"/>
          </a:ln>
        </p:spPr>
      </p:sp>
      <p:pic>
        <p:nvPicPr>
          <p:cNvPr id="47" name="Image 2" descr="Warning">    </p:cNvPr>
          <p:cNvPicPr>
            <a:picLocks noChangeAspect="1"/>
          </p:cNvPicPr>
          <p:nvPr/>
        </p:nvPicPr>
        <p:blipFill>
          <a:blip r:embed="rId3"/>
          <a:srcRect l="-1406" r="-1406" t="0" b="0"/>
          <a:stretch/>
        </p:blipFill>
        <p:spPr>
          <a:xfrm>
            <a:off x="3479800" y="3357066"/>
            <a:ext cx="65286" cy="152400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3583186" y="3357066"/>
            <a:ext cx="1255514" cy="507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SOP-BIP-004 vs 006: confirm governing SOP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3422650" y="3915470"/>
            <a:ext cx="1422400" cy="0"/>
          </a:xfrm>
          <a:prstGeom prst="line">
            <a:avLst/>
          </a:prstGeom>
          <a:noFill/>
          <a:ln w="6350">
            <a:solidFill>
              <a:srgbClr val="CBD5E2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3422650" y="3969445"/>
            <a:ext cx="1473200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405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FOR-BIP-010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5260975" y="1171575"/>
            <a:ext cx="3549650" cy="1466850"/>
          </a:xfrm>
          <a:prstGeom prst="roundRect">
            <a:avLst>
              <a:gd name="adj" fmla="val 4978"/>
            </a:avLst>
          </a:prstGeom>
          <a:solidFill>
            <a:srgbClr val="F1F5FA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5327650" y="1238250"/>
            <a:ext cx="3518789" cy="174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1062" b="1" spc="50" kern="0" dirty="0">
                <a:solidFill>
                  <a:srgbClr val="2F55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A · CBD ISOLATE</a:t>
            </a:r>
            <a:endParaRPr lang="en-US" sz="1062" dirty="0"/>
          </a:p>
        </p:txBody>
      </p:sp>
      <p:sp>
        <p:nvSpPr>
          <p:cNvPr id="53" name="Text 48"/>
          <p:cNvSpPr/>
          <p:nvPr/>
        </p:nvSpPr>
        <p:spPr>
          <a:xfrm>
            <a:off x="5327650" y="1438473"/>
            <a:ext cx="3518789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59" b="1" dirty="0">
                <a:solidFill>
                  <a:srgbClr val="2F55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4a</a:t>
            </a:r>
            <a:r>
              <a:rPr lang="en-US" sz="1159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 CBD isolation (ISO-A to ISO-E)</a:t>
            </a:r>
            <a:endParaRPr lang="en-US" sz="1159" dirty="0"/>
          </a:p>
        </p:txBody>
      </p:sp>
      <p:sp>
        <p:nvSpPr>
          <p:cNvPr id="54" name="Text 49"/>
          <p:cNvSpPr/>
          <p:nvPr/>
        </p:nvSpPr>
        <p:spPr>
          <a:xfrm>
            <a:off x="5327650" y="1645146"/>
            <a:ext cx="3518789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1059" i="1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Crystallize CBD isolate</a:t>
            </a:r>
            <a:endParaRPr lang="en-US" sz="1059" dirty="0"/>
          </a:p>
        </p:txBody>
      </p:sp>
      <p:sp>
        <p:nvSpPr>
          <p:cNvPr id="55" name="Shape 50"/>
          <p:cNvSpPr/>
          <p:nvPr/>
        </p:nvSpPr>
        <p:spPr>
          <a:xfrm>
            <a:off x="5327650" y="1851819"/>
            <a:ext cx="1104503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56" name="Text 51"/>
          <p:cNvSpPr/>
          <p:nvPr/>
        </p:nvSpPr>
        <p:spPr>
          <a:xfrm>
            <a:off x="5391150" y="1870869"/>
            <a:ext cx="1028303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heptane charge</a:t>
            </a:r>
            <a:endParaRPr lang="en-US" sz="1100" dirty="0"/>
          </a:p>
        </p:txBody>
      </p:sp>
      <p:sp>
        <p:nvSpPr>
          <p:cNvPr id="57" name="Shape 52"/>
          <p:cNvSpPr/>
          <p:nvPr/>
        </p:nvSpPr>
        <p:spPr>
          <a:xfrm>
            <a:off x="6470253" y="1851819"/>
            <a:ext cx="1473994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58" name="Text 53"/>
          <p:cNvSpPr/>
          <p:nvPr/>
        </p:nvSpPr>
        <p:spPr>
          <a:xfrm>
            <a:off x="6533753" y="1870869"/>
            <a:ext cx="1397794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internal &amp; jacket temp</a:t>
            </a:r>
            <a:endParaRPr lang="en-US" sz="1100" dirty="0"/>
          </a:p>
        </p:txBody>
      </p:sp>
      <p:sp>
        <p:nvSpPr>
          <p:cNvPr id="59" name="Shape 54"/>
          <p:cNvSpPr/>
          <p:nvPr/>
        </p:nvSpPr>
        <p:spPr>
          <a:xfrm>
            <a:off x="5327650" y="2088654"/>
            <a:ext cx="950813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60" name="Text 55"/>
          <p:cNvSpPr/>
          <p:nvPr/>
        </p:nvSpPr>
        <p:spPr>
          <a:xfrm>
            <a:off x="5391150" y="2107704"/>
            <a:ext cx="874613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cool to −18 °C</a:t>
            </a:r>
            <a:endParaRPr lang="en-US" sz="1100" dirty="0"/>
          </a:p>
        </p:txBody>
      </p:sp>
      <p:sp>
        <p:nvSpPr>
          <p:cNvPr id="61" name="Shape 56"/>
          <p:cNvSpPr/>
          <p:nvPr/>
        </p:nvSpPr>
        <p:spPr>
          <a:xfrm>
            <a:off x="6316563" y="2088654"/>
            <a:ext cx="805458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62" name="Text 57"/>
          <p:cNvSpPr/>
          <p:nvPr/>
        </p:nvSpPr>
        <p:spPr>
          <a:xfrm>
            <a:off x="6380063" y="2107704"/>
            <a:ext cx="729258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tray timing</a:t>
            </a:r>
            <a:endParaRPr lang="en-US" sz="1100" dirty="0"/>
          </a:p>
        </p:txBody>
      </p:sp>
      <p:sp>
        <p:nvSpPr>
          <p:cNvPr id="63" name="Shape 58"/>
          <p:cNvSpPr/>
          <p:nvPr/>
        </p:nvSpPr>
        <p:spPr>
          <a:xfrm>
            <a:off x="5327650" y="2361902"/>
            <a:ext cx="3416300" cy="0"/>
          </a:xfrm>
          <a:prstGeom prst="line">
            <a:avLst/>
          </a:prstGeom>
          <a:noFill/>
          <a:ln w="6350">
            <a:solidFill>
              <a:srgbClr val="CBD5E2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5327650" y="2415877"/>
            <a:ext cx="3518789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1059" b="1" dirty="0">
                <a:solidFill>
                  <a:srgbClr val="405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FOR-BIP-004</a:t>
            </a:r>
            <a:endParaRPr lang="en-US" sz="1059" dirty="0"/>
          </a:p>
        </p:txBody>
      </p:sp>
      <p:sp>
        <p:nvSpPr>
          <p:cNvPr id="65" name="Shape 60"/>
          <p:cNvSpPr/>
          <p:nvPr/>
        </p:nvSpPr>
        <p:spPr>
          <a:xfrm>
            <a:off x="5260975" y="2746375"/>
            <a:ext cx="3549650" cy="1466850"/>
          </a:xfrm>
          <a:prstGeom prst="roundRect">
            <a:avLst>
              <a:gd name="adj" fmla="val 4978"/>
            </a:avLst>
          </a:prstGeom>
          <a:solidFill>
            <a:srgbClr val="F1F5FA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5327650" y="2813050"/>
            <a:ext cx="3518789" cy="286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7"/>
              </a:lnSpc>
              <a:buNone/>
            </a:pPr>
            <a:r>
              <a:rPr lang="en-US" sz="980" b="1" spc="50" kern="0" dirty="0">
                <a:solidFill>
                  <a:srgbClr val="2F55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B · DERIVATIVE REACTION (E.G., DELTA-8)</a:t>
            </a:r>
            <a:endParaRPr lang="en-US" sz="980" dirty="0"/>
          </a:p>
        </p:txBody>
      </p:sp>
      <p:sp>
        <p:nvSpPr>
          <p:cNvPr id="67" name="Text 62"/>
          <p:cNvSpPr/>
          <p:nvPr/>
        </p:nvSpPr>
        <p:spPr>
          <a:xfrm>
            <a:off x="5327650" y="3124696"/>
            <a:ext cx="3518789" cy="161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975" b="1" dirty="0">
                <a:solidFill>
                  <a:srgbClr val="2F55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4b</a:t>
            </a:r>
            <a:r>
              <a:rPr lang="en-US" sz="975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 Derivative reaction (RXN-1 / RXN-3)</a:t>
            </a:r>
            <a:endParaRPr lang="en-US" sz="975" dirty="0"/>
          </a:p>
        </p:txBody>
      </p:sp>
      <p:sp>
        <p:nvSpPr>
          <p:cNvPr id="68" name="Text 63"/>
          <p:cNvSpPr/>
          <p:nvPr/>
        </p:nvSpPr>
        <p:spPr>
          <a:xfrm>
            <a:off x="5327650" y="3311426"/>
            <a:ext cx="3518789" cy="161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94" i="1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Chemically convert to Delta-8</a:t>
            </a:r>
            <a:endParaRPr lang="en-US" sz="894" dirty="0"/>
          </a:p>
        </p:txBody>
      </p:sp>
      <p:sp>
        <p:nvSpPr>
          <p:cNvPr id="69" name="Shape 64"/>
          <p:cNvSpPr/>
          <p:nvPr/>
        </p:nvSpPr>
        <p:spPr>
          <a:xfrm>
            <a:off x="5327650" y="3498255"/>
            <a:ext cx="1115120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70" name="Text 65"/>
          <p:cNvSpPr/>
          <p:nvPr/>
        </p:nvSpPr>
        <p:spPr>
          <a:xfrm>
            <a:off x="5391150" y="3517305"/>
            <a:ext cx="1038920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PTSA &amp; heptane</a:t>
            </a:r>
            <a:endParaRPr lang="en-US" sz="1100" dirty="0"/>
          </a:p>
        </p:txBody>
      </p:sp>
      <p:sp>
        <p:nvSpPr>
          <p:cNvPr id="71" name="Shape 66"/>
          <p:cNvSpPr/>
          <p:nvPr/>
        </p:nvSpPr>
        <p:spPr>
          <a:xfrm>
            <a:off x="6480870" y="3498255"/>
            <a:ext cx="1272480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72" name="Text 67"/>
          <p:cNvSpPr/>
          <p:nvPr/>
        </p:nvSpPr>
        <p:spPr>
          <a:xfrm>
            <a:off x="6544370" y="3517305"/>
            <a:ext cx="1196280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50–55 °C pre-acid</a:t>
            </a:r>
            <a:endParaRPr lang="en-US" sz="1100" dirty="0"/>
          </a:p>
        </p:txBody>
      </p:sp>
      <p:sp>
        <p:nvSpPr>
          <p:cNvPr id="73" name="Shape 68"/>
          <p:cNvSpPr/>
          <p:nvPr/>
        </p:nvSpPr>
        <p:spPr>
          <a:xfrm>
            <a:off x="7791450" y="3498255"/>
            <a:ext cx="723602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74" name="Text 69"/>
          <p:cNvSpPr/>
          <p:nvPr/>
        </p:nvSpPr>
        <p:spPr>
          <a:xfrm>
            <a:off x="7854950" y="3517305"/>
            <a:ext cx="647402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exotherm</a:t>
            </a:r>
            <a:endParaRPr lang="en-US" sz="1100" dirty="0"/>
          </a:p>
        </p:txBody>
      </p:sp>
      <p:sp>
        <p:nvSpPr>
          <p:cNvPr id="75" name="Shape 70"/>
          <p:cNvSpPr/>
          <p:nvPr/>
        </p:nvSpPr>
        <p:spPr>
          <a:xfrm>
            <a:off x="5327650" y="3735090"/>
            <a:ext cx="1014512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76" name="Text 71"/>
          <p:cNvSpPr/>
          <p:nvPr/>
        </p:nvSpPr>
        <p:spPr>
          <a:xfrm>
            <a:off x="5391150" y="3754140"/>
            <a:ext cx="938312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85–95 °C cook</a:t>
            </a:r>
            <a:endParaRPr lang="en-US" sz="1100" dirty="0"/>
          </a:p>
        </p:txBody>
      </p:sp>
      <p:sp>
        <p:nvSpPr>
          <p:cNvPr id="77" name="Shape 72"/>
          <p:cNvSpPr/>
          <p:nvPr/>
        </p:nvSpPr>
        <p:spPr>
          <a:xfrm>
            <a:off x="6380262" y="3735090"/>
            <a:ext cx="686098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78" name="Text 73"/>
          <p:cNvSpPr/>
          <p:nvPr/>
        </p:nvSpPr>
        <p:spPr>
          <a:xfrm>
            <a:off x="6443762" y="3754140"/>
            <a:ext cx="609898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 washes</a:t>
            </a:r>
            <a:endParaRPr lang="en-US" sz="1100" dirty="0"/>
          </a:p>
        </p:txBody>
      </p:sp>
      <p:sp>
        <p:nvSpPr>
          <p:cNvPr id="79" name="Shape 74"/>
          <p:cNvSpPr/>
          <p:nvPr/>
        </p:nvSpPr>
        <p:spPr>
          <a:xfrm>
            <a:off x="5327650" y="3956645"/>
            <a:ext cx="3416300" cy="0"/>
          </a:xfrm>
          <a:prstGeom prst="line">
            <a:avLst/>
          </a:prstGeom>
          <a:noFill/>
          <a:ln w="6350">
            <a:solidFill>
              <a:srgbClr val="CBD5E2"/>
            </a:solidFill>
            <a:prstDash val="solid"/>
          </a:ln>
        </p:spPr>
      </p:sp>
      <p:sp>
        <p:nvSpPr>
          <p:cNvPr id="80" name="Text 75"/>
          <p:cNvSpPr/>
          <p:nvPr/>
        </p:nvSpPr>
        <p:spPr>
          <a:xfrm>
            <a:off x="5327650" y="4010620"/>
            <a:ext cx="3518789" cy="161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94" b="1" dirty="0">
                <a:solidFill>
                  <a:srgbClr val="405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FOR-BIP-003</a:t>
            </a:r>
            <a:endParaRPr lang="en-US" sz="894" dirty="0"/>
          </a:p>
        </p:txBody>
      </p:sp>
      <p:sp>
        <p:nvSpPr>
          <p:cNvPr id="81" name="Shape 76"/>
          <p:cNvSpPr/>
          <p:nvPr/>
        </p:nvSpPr>
        <p:spPr>
          <a:xfrm>
            <a:off x="9147175" y="1171575"/>
            <a:ext cx="1206500" cy="3041650"/>
          </a:xfrm>
          <a:prstGeom prst="roundRect">
            <a:avLst>
              <a:gd name="adj" fmla="val 6053"/>
            </a:avLst>
          </a:prstGeom>
          <a:solidFill>
            <a:srgbClr val="F1F5FA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82" name="Text 77"/>
          <p:cNvSpPr/>
          <p:nvPr/>
        </p:nvSpPr>
        <p:spPr>
          <a:xfrm>
            <a:off x="9226550" y="1250950"/>
            <a:ext cx="1098550" cy="52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2F55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r>
              <a:rPr lang="en-US" sz="1200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 Wash / final purification / drying</a:t>
            </a:r>
            <a:endParaRPr lang="en-US" sz="1200" dirty="0"/>
          </a:p>
        </p:txBody>
      </p:sp>
      <p:sp>
        <p:nvSpPr>
          <p:cNvPr id="83" name="Text 78"/>
          <p:cNvSpPr/>
          <p:nvPr/>
        </p:nvSpPr>
        <p:spPr>
          <a:xfrm>
            <a:off x="9226550" y="1804491"/>
            <a:ext cx="1098550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Filter, wash and dry to spec</a:t>
            </a:r>
            <a:endParaRPr lang="en-US" sz="1100" dirty="0"/>
          </a:p>
        </p:txBody>
      </p:sp>
      <p:sp>
        <p:nvSpPr>
          <p:cNvPr id="84" name="Shape 79"/>
          <p:cNvSpPr/>
          <p:nvPr/>
        </p:nvSpPr>
        <p:spPr>
          <a:xfrm>
            <a:off x="9226550" y="2190452"/>
            <a:ext cx="857448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85" name="Text 80"/>
          <p:cNvSpPr/>
          <p:nvPr/>
        </p:nvSpPr>
        <p:spPr>
          <a:xfrm>
            <a:off x="9290050" y="2209502"/>
            <a:ext cx="781248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rinse events</a:t>
            </a:r>
            <a:endParaRPr lang="en-US" sz="1100" dirty="0"/>
          </a:p>
        </p:txBody>
      </p:sp>
      <p:sp>
        <p:nvSpPr>
          <p:cNvPr id="86" name="Shape 81"/>
          <p:cNvSpPr/>
          <p:nvPr/>
        </p:nvSpPr>
        <p:spPr>
          <a:xfrm>
            <a:off x="9226550" y="2427288"/>
            <a:ext cx="968871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87" name="Text 82"/>
          <p:cNvSpPr/>
          <p:nvPr/>
        </p:nvSpPr>
        <p:spPr>
          <a:xfrm>
            <a:off x="9290050" y="2446338"/>
            <a:ext cx="892671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filtration time</a:t>
            </a:r>
            <a:endParaRPr lang="en-US" sz="1100" dirty="0"/>
          </a:p>
        </p:txBody>
      </p:sp>
      <p:sp>
        <p:nvSpPr>
          <p:cNvPr id="88" name="Shape 83"/>
          <p:cNvSpPr/>
          <p:nvPr/>
        </p:nvSpPr>
        <p:spPr>
          <a:xfrm>
            <a:off x="9226550" y="2664123"/>
            <a:ext cx="609203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89" name="Text 84"/>
          <p:cNvSpPr/>
          <p:nvPr/>
        </p:nvSpPr>
        <p:spPr>
          <a:xfrm>
            <a:off x="9290050" y="2683173"/>
            <a:ext cx="533003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vacuum</a:t>
            </a:r>
            <a:endParaRPr lang="en-US" sz="1100" dirty="0"/>
          </a:p>
        </p:txBody>
      </p:sp>
      <p:sp>
        <p:nvSpPr>
          <p:cNvPr id="90" name="Shape 85"/>
          <p:cNvSpPr/>
          <p:nvPr/>
        </p:nvSpPr>
        <p:spPr>
          <a:xfrm>
            <a:off x="9226550" y="2900958"/>
            <a:ext cx="1047750" cy="359370"/>
          </a:xfrm>
          <a:prstGeom prst="roundRect">
            <a:avLst>
              <a:gd name="adj" fmla="val 24738"/>
            </a:avLst>
          </a:prstGeom>
          <a:solidFill>
            <a:srgbClr val="E6EBFA"/>
          </a:solidFill>
          <a:ln/>
        </p:spPr>
      </p:sp>
      <p:sp>
        <p:nvSpPr>
          <p:cNvPr id="91" name="Text 86"/>
          <p:cNvSpPr/>
          <p:nvPr/>
        </p:nvSpPr>
        <p:spPr>
          <a:xfrm>
            <a:off x="9290050" y="2920008"/>
            <a:ext cx="97155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oven temp &amp; time</a:t>
            </a:r>
            <a:endParaRPr lang="en-US" sz="1100" dirty="0"/>
          </a:p>
        </p:txBody>
      </p:sp>
      <p:sp>
        <p:nvSpPr>
          <p:cNvPr id="92" name="Shape 87"/>
          <p:cNvSpPr/>
          <p:nvPr/>
        </p:nvSpPr>
        <p:spPr>
          <a:xfrm>
            <a:off x="10690225" y="1171575"/>
            <a:ext cx="1206500" cy="3041650"/>
          </a:xfrm>
          <a:prstGeom prst="roundRect">
            <a:avLst>
              <a:gd name="adj" fmla="val 6053"/>
            </a:avLst>
          </a:prstGeom>
          <a:solidFill>
            <a:srgbClr val="F1F5FA"/>
          </a:solidFill>
          <a:ln w="6350">
            <a:solidFill>
              <a:srgbClr val="CBD5E2"/>
            </a:solidFill>
            <a:prstDash val="solid"/>
          </a:ln>
        </p:spPr>
      </p:sp>
      <p:sp>
        <p:nvSpPr>
          <p:cNvPr id="93" name="Text 88"/>
          <p:cNvSpPr/>
          <p:nvPr/>
        </p:nvSpPr>
        <p:spPr>
          <a:xfrm>
            <a:off x="10769600" y="1250950"/>
            <a:ext cx="1098550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2F55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r>
              <a:rPr lang="en-US" sz="1200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  QC / inventory</a:t>
            </a:r>
            <a:endParaRPr lang="en-US" sz="1200" dirty="0"/>
          </a:p>
        </p:txBody>
      </p:sp>
      <p:sp>
        <p:nvSpPr>
          <p:cNvPr id="94" name="Text 89"/>
          <p:cNvSpPr/>
          <p:nvPr/>
        </p:nvSpPr>
        <p:spPr>
          <a:xfrm>
            <a:off x="10769600" y="1636911"/>
            <a:ext cx="1098550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Verify spec, release to stock</a:t>
            </a:r>
            <a:endParaRPr lang="en-US" sz="1100" dirty="0"/>
          </a:p>
        </p:txBody>
      </p:sp>
      <p:sp>
        <p:nvSpPr>
          <p:cNvPr id="95" name="Shape 90"/>
          <p:cNvSpPr/>
          <p:nvPr/>
        </p:nvSpPr>
        <p:spPr>
          <a:xfrm>
            <a:off x="10769600" y="2022872"/>
            <a:ext cx="537865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96" name="Text 91"/>
          <p:cNvSpPr/>
          <p:nvPr/>
        </p:nvSpPr>
        <p:spPr>
          <a:xfrm>
            <a:off x="10833100" y="2041922"/>
            <a:ext cx="461665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assays</a:t>
            </a:r>
            <a:endParaRPr lang="en-US" sz="1100" dirty="0"/>
          </a:p>
        </p:txBody>
      </p:sp>
      <p:sp>
        <p:nvSpPr>
          <p:cNvPr id="97" name="Shape 92"/>
          <p:cNvSpPr/>
          <p:nvPr/>
        </p:nvSpPr>
        <p:spPr>
          <a:xfrm>
            <a:off x="10769600" y="2259707"/>
            <a:ext cx="479822" cy="198735"/>
          </a:xfrm>
          <a:prstGeom prst="roundRect">
            <a:avLst>
              <a:gd name="adj" fmla="val 44733"/>
            </a:avLst>
          </a:prstGeom>
          <a:solidFill>
            <a:srgbClr val="E6EBFA"/>
          </a:solidFill>
          <a:ln/>
        </p:spPr>
      </p:sp>
      <p:sp>
        <p:nvSpPr>
          <p:cNvPr id="98" name="Text 93"/>
          <p:cNvSpPr/>
          <p:nvPr/>
        </p:nvSpPr>
        <p:spPr>
          <a:xfrm>
            <a:off x="10833100" y="2278757"/>
            <a:ext cx="403622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COAs</a:t>
            </a:r>
            <a:endParaRPr lang="en-US" sz="1100" dirty="0"/>
          </a:p>
        </p:txBody>
      </p:sp>
      <p:sp>
        <p:nvSpPr>
          <p:cNvPr id="99" name="Shape 94"/>
          <p:cNvSpPr/>
          <p:nvPr/>
        </p:nvSpPr>
        <p:spPr>
          <a:xfrm>
            <a:off x="10769600" y="2496542"/>
            <a:ext cx="1047750" cy="359370"/>
          </a:xfrm>
          <a:prstGeom prst="roundRect">
            <a:avLst>
              <a:gd name="adj" fmla="val 24738"/>
            </a:avLst>
          </a:prstGeom>
          <a:solidFill>
            <a:srgbClr val="E6EBFA"/>
          </a:solidFill>
          <a:ln/>
        </p:spPr>
      </p:sp>
      <p:sp>
        <p:nvSpPr>
          <p:cNvPr id="100" name="Text 95"/>
          <p:cNvSpPr/>
          <p:nvPr/>
        </p:nvSpPr>
        <p:spPr>
          <a:xfrm>
            <a:off x="10833100" y="2515592"/>
            <a:ext cx="97155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inventory transactions</a:t>
            </a:r>
            <a:endParaRPr lang="en-US" sz="1100" dirty="0"/>
          </a:p>
        </p:txBody>
      </p:sp>
      <p:sp>
        <p:nvSpPr>
          <p:cNvPr id="101" name="Shape 96"/>
          <p:cNvSpPr/>
          <p:nvPr/>
        </p:nvSpPr>
        <p:spPr>
          <a:xfrm>
            <a:off x="10769600" y="3577134"/>
            <a:ext cx="1047750" cy="0"/>
          </a:xfrm>
          <a:prstGeom prst="line">
            <a:avLst/>
          </a:prstGeom>
          <a:noFill/>
          <a:ln w="6350">
            <a:solidFill>
              <a:srgbClr val="CBD5E2"/>
            </a:solidFill>
            <a:prstDash val="solid"/>
          </a:ln>
        </p:spPr>
      </p:sp>
      <p:sp>
        <p:nvSpPr>
          <p:cNvPr id="102" name="Text 97"/>
          <p:cNvSpPr/>
          <p:nvPr/>
        </p:nvSpPr>
        <p:spPr>
          <a:xfrm>
            <a:off x="10769600" y="3631109"/>
            <a:ext cx="1098550" cy="52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405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In-house lab · COAs · Acumatica</a:t>
            </a:r>
            <a:endParaRPr lang="en-US" sz="1100" dirty="0"/>
          </a:p>
        </p:txBody>
      </p:sp>
      <p:pic>
        <p:nvPicPr>
          <p:cNvPr id="103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428750" y="2628900"/>
            <a:ext cx="406400" cy="127000"/>
          </a:xfrm>
          <a:prstGeom prst="rect">
            <a:avLst/>
          </a:prstGeom>
        </p:spPr>
      </p:pic>
      <p:pic>
        <p:nvPicPr>
          <p:cNvPr id="104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971800" y="2628900"/>
            <a:ext cx="406400" cy="127000"/>
          </a:xfrm>
          <a:prstGeom prst="rect">
            <a:avLst/>
          </a:prstGeom>
        </p:spPr>
      </p:pic>
      <p:pic>
        <p:nvPicPr>
          <p:cNvPr id="105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318750" y="2628900"/>
            <a:ext cx="406400" cy="127000"/>
          </a:xfrm>
          <a:prstGeom prst="rect">
            <a:avLst/>
          </a:prstGeom>
        </p:spPr>
      </p:pic>
      <p:pic>
        <p:nvPicPr>
          <p:cNvPr id="106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876800" y="2628900"/>
            <a:ext cx="279400" cy="127000"/>
          </a:xfrm>
          <a:prstGeom prst="rect">
            <a:avLst/>
          </a:prstGeom>
        </p:spPr>
      </p:pic>
      <p:pic>
        <p:nvPicPr>
          <p:cNvPr id="107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029200" y="1841500"/>
            <a:ext cx="127000" cy="914400"/>
          </a:xfrm>
          <a:prstGeom prst="rect">
            <a:avLst/>
          </a:prstGeom>
        </p:spPr>
      </p:pic>
      <p:pic>
        <p:nvPicPr>
          <p:cNvPr id="108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029200" y="1841500"/>
            <a:ext cx="266700" cy="127000"/>
          </a:xfrm>
          <a:prstGeom prst="rect">
            <a:avLst/>
          </a:prstGeom>
        </p:spPr>
      </p:pic>
      <p:pic>
        <p:nvPicPr>
          <p:cNvPr id="109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029200" y="2628900"/>
            <a:ext cx="127000" cy="914400"/>
          </a:xfrm>
          <a:prstGeom prst="rect">
            <a:avLst/>
          </a:prstGeom>
        </p:spPr>
      </p:pic>
      <p:pic>
        <p:nvPicPr>
          <p:cNvPr id="110" name="Image 10" descr="connector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029200" y="3416300"/>
            <a:ext cx="266700" cy="127000"/>
          </a:xfrm>
          <a:prstGeom prst="rect">
            <a:avLst/>
          </a:prstGeom>
        </p:spPr>
      </p:pic>
      <p:pic>
        <p:nvPicPr>
          <p:cNvPr id="111" name="Image 11" descr="connector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763000" y="1841500"/>
            <a:ext cx="279400" cy="127000"/>
          </a:xfrm>
          <a:prstGeom prst="rect">
            <a:avLst/>
          </a:prstGeom>
        </p:spPr>
      </p:pic>
      <p:pic>
        <p:nvPicPr>
          <p:cNvPr id="112" name="Image 12" descr="connector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763000" y="3416300"/>
            <a:ext cx="279400" cy="127000"/>
          </a:xfrm>
          <a:prstGeom prst="rect">
            <a:avLst/>
          </a:prstGeom>
        </p:spPr>
      </p:pic>
      <p:pic>
        <p:nvPicPr>
          <p:cNvPr id="113" name="Image 13" descr="connector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915400" y="1841500"/>
            <a:ext cx="127000" cy="1701800"/>
          </a:xfrm>
          <a:prstGeom prst="rect">
            <a:avLst/>
          </a:prstGeom>
        </p:spPr>
      </p:pic>
      <p:pic>
        <p:nvPicPr>
          <p:cNvPr id="114" name="Image 14" descr="connector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915400" y="2628900"/>
            <a:ext cx="266700" cy="127000"/>
          </a:xfrm>
          <a:prstGeom prst="rect">
            <a:avLst/>
          </a:prstGeom>
        </p:spPr>
      </p:pic>
      <p:pic>
        <p:nvPicPr>
          <p:cNvPr id="115" name="Image 15" descr="Data state: Paper record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276350" y="1079500"/>
            <a:ext cx="279400" cy="279400"/>
          </a:xfrm>
          <a:prstGeom prst="rect">
            <a:avLst/>
          </a:prstGeom>
        </p:spPr>
      </p:pic>
      <p:pic>
        <p:nvPicPr>
          <p:cNvPr id="116" name="Image 16" descr="Data state: Paper record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2819400" y="1079500"/>
            <a:ext cx="279400" cy="279400"/>
          </a:xfrm>
          <a:prstGeom prst="rect">
            <a:avLst/>
          </a:prstGeom>
        </p:spPr>
      </p:pic>
      <p:sp>
        <p:nvSpPr>
          <p:cNvPr id="117" name="Shape 98"/>
          <p:cNvSpPr/>
          <p:nvPr/>
        </p:nvSpPr>
        <p:spPr>
          <a:xfrm>
            <a:off x="1714500" y="1073150"/>
            <a:ext cx="241300" cy="241300"/>
          </a:xfrm>
          <a:prstGeom prst="roundRect">
            <a:avLst>
              <a:gd name="adj" fmla="val 50000"/>
            </a:avLst>
          </a:prstGeom>
          <a:solidFill>
            <a:srgbClr val="1928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8" name="Text 99"/>
          <p:cNvSpPr/>
          <p:nvPr/>
        </p:nvSpPr>
        <p:spPr>
          <a:xfrm>
            <a:off x="1695450" y="1079500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4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  <p:pic>
        <p:nvPicPr>
          <p:cNvPr id="119" name="Image 17" descr="Data state: Paper record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4737100" y="1079500"/>
            <a:ext cx="279400" cy="279400"/>
          </a:xfrm>
          <a:prstGeom prst="rect">
            <a:avLst/>
          </a:prstGeom>
        </p:spPr>
      </p:pic>
      <p:sp>
        <p:nvSpPr>
          <p:cNvPr id="120" name="Shape 100"/>
          <p:cNvSpPr/>
          <p:nvPr/>
        </p:nvSpPr>
        <p:spPr>
          <a:xfrm>
            <a:off x="3257550" y="1073150"/>
            <a:ext cx="241300" cy="241300"/>
          </a:xfrm>
          <a:prstGeom prst="roundRect">
            <a:avLst>
              <a:gd name="adj" fmla="val 50000"/>
            </a:avLst>
          </a:prstGeom>
          <a:solidFill>
            <a:srgbClr val="1928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1" name="Text 101"/>
          <p:cNvSpPr/>
          <p:nvPr/>
        </p:nvSpPr>
        <p:spPr>
          <a:xfrm>
            <a:off x="3238500" y="1079500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4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  <p:pic>
        <p:nvPicPr>
          <p:cNvPr id="122" name="Image 18" descr="Data state: Paper record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10166350" y="1079500"/>
            <a:ext cx="279400" cy="279400"/>
          </a:xfrm>
          <a:prstGeom prst="rect">
            <a:avLst/>
          </a:prstGeom>
        </p:spPr>
      </p:pic>
      <p:pic>
        <p:nvPicPr>
          <p:cNvPr id="123" name="Image 19" descr="Data state: Manually entered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11709400" y="1079500"/>
            <a:ext cx="279400" cy="279400"/>
          </a:xfrm>
          <a:prstGeom prst="rect">
            <a:avLst/>
          </a:prstGeom>
        </p:spPr>
      </p:pic>
      <p:pic>
        <p:nvPicPr>
          <p:cNvPr id="124" name="Image 20" descr="Data state: Paper record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8623300" y="1079500"/>
            <a:ext cx="279400" cy="279400"/>
          </a:xfrm>
          <a:prstGeom prst="rect">
            <a:avLst/>
          </a:prstGeom>
        </p:spPr>
      </p:pic>
      <p:pic>
        <p:nvPicPr>
          <p:cNvPr id="125" name="Image 21" descr="Data state: Paper record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8623300" y="2654300"/>
            <a:ext cx="279400" cy="279400"/>
          </a:xfrm>
          <a:prstGeom prst="rect">
            <a:avLst/>
          </a:prstGeom>
        </p:spPr>
      </p:pic>
      <p:sp>
        <p:nvSpPr>
          <p:cNvPr id="126" name="Shape 102"/>
          <p:cNvSpPr/>
          <p:nvPr/>
        </p:nvSpPr>
        <p:spPr>
          <a:xfrm>
            <a:off x="254000" y="4343400"/>
            <a:ext cx="8509000" cy="228600"/>
          </a:xfrm>
          <a:prstGeom prst="roundRect">
            <a:avLst>
              <a:gd name="adj" fmla="val 22222"/>
            </a:avLst>
          </a:prstGeom>
          <a:solidFill>
            <a:srgbClr val="E6EBFA"/>
          </a:solidFill>
          <a:ln/>
        </p:spPr>
      </p:sp>
      <p:sp>
        <p:nvSpPr>
          <p:cNvPr id="127" name="Shape 103"/>
          <p:cNvSpPr/>
          <p:nvPr/>
        </p:nvSpPr>
        <p:spPr>
          <a:xfrm>
            <a:off x="260350" y="4337050"/>
            <a:ext cx="241300" cy="241300"/>
          </a:xfrm>
          <a:prstGeom prst="roundRect">
            <a:avLst>
              <a:gd name="adj" fmla="val 50000"/>
            </a:avLst>
          </a:prstGeom>
          <a:solidFill>
            <a:srgbClr val="1928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8" name="Text 104"/>
          <p:cNvSpPr/>
          <p:nvPr/>
        </p:nvSpPr>
        <p:spPr>
          <a:xfrm>
            <a:off x="241300" y="4343400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4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29" name="Text 105"/>
          <p:cNvSpPr/>
          <p:nvPr/>
        </p:nvSpPr>
        <p:spPr>
          <a:xfrm>
            <a:off x="596900" y="4368800"/>
            <a:ext cx="8241030" cy="19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928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 electronic batch records </a:t>
            </a:r>
            <a:r>
              <a:rPr lang="en-US" sz="1100" b="1" dirty="0">
                <a:solidFill>
                  <a:srgbClr val="405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recommended hybrid eBPR, paper to digital</a:t>
            </a:r>
            <a:endParaRPr lang="en-US" sz="1100" dirty="0"/>
          </a:p>
        </p:txBody>
      </p:sp>
      <p:sp>
        <p:nvSpPr>
          <p:cNvPr id="130" name="Shape 106"/>
          <p:cNvSpPr/>
          <p:nvPr/>
        </p:nvSpPr>
        <p:spPr>
          <a:xfrm>
            <a:off x="254000" y="4622800"/>
            <a:ext cx="2768600" cy="762000"/>
          </a:xfrm>
          <a:prstGeom prst="roundRect">
            <a:avLst>
              <a:gd name="adj" fmla="val 8333"/>
            </a:avLst>
          </a:prstGeom>
          <a:solidFill>
            <a:srgbClr val="167A7A"/>
          </a:solidFill>
          <a:ln/>
        </p:spPr>
      </p:sp>
      <p:pic>
        <p:nvPicPr>
          <p:cNvPr id="131" name="Image 22" descr="Gauge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355600" y="4864100"/>
            <a:ext cx="279400" cy="279400"/>
          </a:xfrm>
          <a:prstGeom prst="rect">
            <a:avLst/>
          </a:prstGeom>
        </p:spPr>
      </p:pic>
      <p:sp>
        <p:nvSpPr>
          <p:cNvPr id="132" name="Text 107"/>
          <p:cNvSpPr/>
          <p:nvPr/>
        </p:nvSpPr>
        <p:spPr>
          <a:xfrm>
            <a:off x="723900" y="4739680"/>
            <a:ext cx="2263013" cy="19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Auto-populate from equipment</a:t>
            </a:r>
            <a:endParaRPr lang="en-US" sz="1200" dirty="0"/>
          </a:p>
        </p:txBody>
      </p:sp>
      <p:sp>
        <p:nvSpPr>
          <p:cNvPr id="133" name="Text 108"/>
          <p:cNvSpPr/>
          <p:nvPr/>
        </p:nvSpPr>
        <p:spPr>
          <a:xfrm>
            <a:off x="723900" y="4932660"/>
            <a:ext cx="2263013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DDF1F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VFDs, controllers, gauges, temperature curves</a:t>
            </a:r>
            <a:endParaRPr lang="en-US" sz="1100" dirty="0"/>
          </a:p>
        </p:txBody>
      </p:sp>
      <p:sp>
        <p:nvSpPr>
          <p:cNvPr id="134" name="Shape 109"/>
          <p:cNvSpPr/>
          <p:nvPr/>
        </p:nvSpPr>
        <p:spPr>
          <a:xfrm>
            <a:off x="3124200" y="4622800"/>
            <a:ext cx="2768600" cy="762000"/>
          </a:xfrm>
          <a:prstGeom prst="roundRect">
            <a:avLst>
              <a:gd name="adj" fmla="val 8333"/>
            </a:avLst>
          </a:prstGeom>
          <a:solidFill>
            <a:srgbClr val="192839"/>
          </a:solidFill>
          <a:ln/>
        </p:spPr>
      </p:sp>
      <p:pic>
        <p:nvPicPr>
          <p:cNvPr id="135" name="Image 23" descr="Hand signing with a pen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3225800" y="4864100"/>
            <a:ext cx="279400" cy="279400"/>
          </a:xfrm>
          <a:prstGeom prst="rect">
            <a:avLst/>
          </a:prstGeom>
        </p:spPr>
      </p:pic>
      <p:sp>
        <p:nvSpPr>
          <p:cNvPr id="136" name="Text 110"/>
          <p:cNvSpPr/>
          <p:nvPr/>
        </p:nvSpPr>
        <p:spPr>
          <a:xfrm>
            <a:off x="3594100" y="4739680"/>
            <a:ext cx="2263013" cy="19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Operator attests</a:t>
            </a:r>
            <a:endParaRPr lang="en-US" sz="1200" dirty="0"/>
          </a:p>
        </p:txBody>
      </p:sp>
      <p:sp>
        <p:nvSpPr>
          <p:cNvPr id="137" name="Text 111"/>
          <p:cNvSpPr/>
          <p:nvPr/>
        </p:nvSpPr>
        <p:spPr>
          <a:xfrm>
            <a:off x="3594100" y="4932660"/>
            <a:ext cx="2263013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C9D3E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Critical additions, visual judgment, exceptions, handoffs</a:t>
            </a:r>
            <a:endParaRPr lang="en-US" sz="1100" dirty="0"/>
          </a:p>
        </p:txBody>
      </p:sp>
      <p:sp>
        <p:nvSpPr>
          <p:cNvPr id="138" name="Shape 112"/>
          <p:cNvSpPr/>
          <p:nvPr/>
        </p:nvSpPr>
        <p:spPr>
          <a:xfrm>
            <a:off x="5994400" y="4622800"/>
            <a:ext cx="2768600" cy="762000"/>
          </a:xfrm>
          <a:prstGeom prst="roundRect">
            <a:avLst>
              <a:gd name="adj" fmla="val 8333"/>
            </a:avLst>
          </a:prstGeom>
          <a:solidFill>
            <a:srgbClr val="E4E7EE"/>
          </a:solidFill>
          <a:ln/>
        </p:spPr>
      </p:sp>
      <p:pic>
        <p:nvPicPr>
          <p:cNvPr id="139" name="Image 24" descr="Lock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6096000" y="4864100"/>
            <a:ext cx="279400" cy="279400"/>
          </a:xfrm>
          <a:prstGeom prst="rect">
            <a:avLst/>
          </a:prstGeom>
        </p:spPr>
      </p:pic>
      <p:sp>
        <p:nvSpPr>
          <p:cNvPr id="140" name="Text 113"/>
          <p:cNvSpPr/>
          <p:nvPr/>
        </p:nvSpPr>
        <p:spPr>
          <a:xfrm>
            <a:off x="6464300" y="4739680"/>
            <a:ext cx="2263013" cy="19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Quality controls</a:t>
            </a:r>
            <a:endParaRPr lang="en-US" sz="1200" dirty="0"/>
          </a:p>
        </p:txBody>
      </p:sp>
      <p:sp>
        <p:nvSpPr>
          <p:cNvPr id="141" name="Text 114"/>
          <p:cNvSpPr/>
          <p:nvPr/>
        </p:nvSpPr>
        <p:spPr>
          <a:xfrm>
            <a:off x="6464300" y="4932660"/>
            <a:ext cx="2263013" cy="3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Template control, audit trail, e-signatures, retention</a:t>
            </a:r>
            <a:endParaRPr lang="en-US" sz="1100" dirty="0"/>
          </a:p>
        </p:txBody>
      </p:sp>
      <p:pic>
        <p:nvPicPr>
          <p:cNvPr id="142" name="Image 25" descr="Before and after: a paper log with sparse two-hour readings becomes a continuous temperature curve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8915400" y="4343400"/>
            <a:ext cx="2984500" cy="736600"/>
          </a:xfrm>
          <a:prstGeom prst="rect">
            <a:avLst/>
          </a:prstGeom>
        </p:spPr>
      </p:pic>
      <p:sp>
        <p:nvSpPr>
          <p:cNvPr id="143" name="Text 115"/>
          <p:cNvSpPr/>
          <p:nvPr/>
        </p:nvSpPr>
        <p:spPr>
          <a:xfrm>
            <a:off x="8870633" y="5130800"/>
            <a:ext cx="3074035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2-hour snapshots → continuous history</a:t>
            </a:r>
            <a:endParaRPr lang="en-US" sz="1100" dirty="0"/>
          </a:p>
        </p:txBody>
      </p:sp>
      <p:sp>
        <p:nvSpPr>
          <p:cNvPr id="144" name="Text 116"/>
          <p:cNvSpPr/>
          <p:nvPr/>
        </p:nvSpPr>
        <p:spPr>
          <a:xfrm>
            <a:off x="254000" y="5435600"/>
            <a:ext cx="667131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405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KEY DATA IS CAPTURED TODAY</a:t>
            </a:r>
            <a:endParaRPr lang="en-US" sz="1100" dirty="0"/>
          </a:p>
        </p:txBody>
      </p:sp>
      <p:pic>
        <p:nvPicPr>
          <p:cNvPr id="145" name="Image 26" descr="Data state: Structured digital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254000" y="5681960"/>
            <a:ext cx="228600" cy="228600"/>
          </a:xfrm>
          <a:prstGeom prst="rect">
            <a:avLst/>
          </a:prstGeom>
        </p:spPr>
      </p:pic>
      <p:sp>
        <p:nvSpPr>
          <p:cNvPr id="146" name="Text 117"/>
          <p:cNvSpPr/>
          <p:nvPr/>
        </p:nvSpPr>
        <p:spPr>
          <a:xfrm>
            <a:off x="558800" y="5715893"/>
            <a:ext cx="1124347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Structured digital</a:t>
            </a:r>
            <a:endParaRPr lang="en-US" sz="1100" dirty="0"/>
          </a:p>
        </p:txBody>
      </p:sp>
      <p:pic>
        <p:nvPicPr>
          <p:cNvPr id="147" name="Image 27" descr="Data state: Manually entered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2413000" y="5681960"/>
            <a:ext cx="228600" cy="228600"/>
          </a:xfrm>
          <a:prstGeom prst="rect">
            <a:avLst/>
          </a:prstGeom>
        </p:spPr>
      </p:pic>
      <p:sp>
        <p:nvSpPr>
          <p:cNvPr id="148" name="Text 118"/>
          <p:cNvSpPr/>
          <p:nvPr/>
        </p:nvSpPr>
        <p:spPr>
          <a:xfrm>
            <a:off x="2717800" y="5715893"/>
            <a:ext cx="1127026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Manually entered</a:t>
            </a:r>
            <a:endParaRPr lang="en-US" sz="1100" dirty="0"/>
          </a:p>
        </p:txBody>
      </p:sp>
      <p:pic>
        <p:nvPicPr>
          <p:cNvPr id="149" name="Image 28" descr="Data state: Displayed, not retained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4572000" y="5681960"/>
            <a:ext cx="228600" cy="228600"/>
          </a:xfrm>
          <a:prstGeom prst="rect">
            <a:avLst/>
          </a:prstGeom>
        </p:spPr>
      </p:pic>
      <p:sp>
        <p:nvSpPr>
          <p:cNvPr id="150" name="Text 119"/>
          <p:cNvSpPr/>
          <p:nvPr/>
        </p:nvSpPr>
        <p:spPr>
          <a:xfrm>
            <a:off x="4876800" y="5715893"/>
            <a:ext cx="1485801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Displayed, not retained</a:t>
            </a:r>
            <a:endParaRPr lang="en-US" sz="1100" dirty="0"/>
          </a:p>
        </p:txBody>
      </p:sp>
      <p:pic>
        <p:nvPicPr>
          <p:cNvPr id="151" name="Image 29" descr="Data state: Paper record">    </p:cNvPr>
          <p:cNvPicPr>
            <a:picLocks noChangeAspect="1"/>
          </p:cNvPicPr>
          <p:nvPr/>
        </p:nvPicPr>
        <p:blipFill>
          <a:blip r:embed="rId30"/>
          <a:srcRect l="0" r="0" t="0" b="0"/>
          <a:stretch/>
        </p:blipFill>
        <p:spPr>
          <a:xfrm>
            <a:off x="254000" y="5974060"/>
            <a:ext cx="228600" cy="228600"/>
          </a:xfrm>
          <a:prstGeom prst="rect">
            <a:avLst/>
          </a:prstGeom>
        </p:spPr>
      </p:pic>
      <p:sp>
        <p:nvSpPr>
          <p:cNvPr id="152" name="Text 120"/>
          <p:cNvSpPr/>
          <p:nvPr/>
        </p:nvSpPr>
        <p:spPr>
          <a:xfrm>
            <a:off x="558800" y="6007993"/>
            <a:ext cx="866874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Paper record</a:t>
            </a:r>
            <a:endParaRPr lang="en-US" sz="1100" dirty="0"/>
          </a:p>
        </p:txBody>
      </p:sp>
      <p:pic>
        <p:nvPicPr>
          <p:cNvPr id="153" name="Image 30" descr="Data state: Not measured">    </p:cNvPr>
          <p:cNvPicPr>
            <a:picLocks noChangeAspect="1"/>
          </p:cNvPicPr>
          <p:nvPr/>
        </p:nvPicPr>
        <p:blipFill>
          <a:blip r:embed="rId31"/>
          <a:srcRect l="0" r="0" t="0" b="0"/>
          <a:stretch/>
        </p:blipFill>
        <p:spPr>
          <a:xfrm>
            <a:off x="2413000" y="5974060"/>
            <a:ext cx="228600" cy="228600"/>
          </a:xfrm>
          <a:prstGeom prst="rect">
            <a:avLst/>
          </a:prstGeom>
        </p:spPr>
      </p:pic>
      <p:sp>
        <p:nvSpPr>
          <p:cNvPr id="154" name="Text 121"/>
          <p:cNvSpPr/>
          <p:nvPr/>
        </p:nvSpPr>
        <p:spPr>
          <a:xfrm>
            <a:off x="2717800" y="6007993"/>
            <a:ext cx="924917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measured</a:t>
            </a:r>
            <a:endParaRPr lang="en-US" sz="1100" dirty="0"/>
          </a:p>
        </p:txBody>
      </p:sp>
      <p:sp>
        <p:nvSpPr>
          <p:cNvPr id="155" name="Shape 122"/>
          <p:cNvSpPr/>
          <p:nvPr/>
        </p:nvSpPr>
        <p:spPr>
          <a:xfrm>
            <a:off x="254000" y="62915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92839"/>
          </a:solidFill>
          <a:ln/>
        </p:spPr>
      </p:sp>
      <p:sp>
        <p:nvSpPr>
          <p:cNvPr id="156" name="Text 123"/>
          <p:cNvSpPr/>
          <p:nvPr/>
        </p:nvSpPr>
        <p:spPr>
          <a:xfrm>
            <a:off x="228600" y="6291560"/>
            <a:ext cx="241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96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</a:t>
            </a:r>
            <a:endParaRPr lang="en-US" sz="1100" dirty="0"/>
          </a:p>
        </p:txBody>
      </p:sp>
      <p:sp>
        <p:nvSpPr>
          <p:cNvPr id="157" name="Text 124"/>
          <p:cNvSpPr/>
          <p:nvPr/>
        </p:nvSpPr>
        <p:spPr>
          <a:xfrm>
            <a:off x="508000" y="6306443"/>
            <a:ext cx="4074425" cy="18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40566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Numbered badges = Faclon opportunity priority (from pre-read)</a:t>
            </a:r>
            <a:endParaRPr lang="en-US" sz="1100" dirty="0"/>
          </a:p>
        </p:txBody>
      </p:sp>
      <p:sp>
        <p:nvSpPr>
          <p:cNvPr id="158" name="Shape 125"/>
          <p:cNvSpPr/>
          <p:nvPr/>
        </p:nvSpPr>
        <p:spPr>
          <a:xfrm>
            <a:off x="6985000" y="5435600"/>
            <a:ext cx="4927600" cy="957560"/>
          </a:xfrm>
          <a:prstGeom prst="roundRect">
            <a:avLst>
              <a:gd name="adj" fmla="val 7958"/>
            </a:avLst>
          </a:prstGeom>
          <a:solidFill>
            <a:srgbClr val="F1F5FA"/>
          </a:solidFill>
          <a:ln/>
        </p:spPr>
      </p:sp>
      <p:sp>
        <p:nvSpPr>
          <p:cNvPr id="159" name="Shape 126"/>
          <p:cNvSpPr/>
          <p:nvPr/>
        </p:nvSpPr>
        <p:spPr>
          <a:xfrm>
            <a:off x="7004050" y="5435600"/>
            <a:ext cx="0" cy="957560"/>
          </a:xfrm>
          <a:prstGeom prst="line">
            <a:avLst/>
          </a:prstGeom>
          <a:noFill/>
          <a:ln w="38100">
            <a:solidFill>
              <a:srgbClr val="2F55D4"/>
            </a:solidFill>
            <a:prstDash val="solid"/>
          </a:ln>
        </p:spPr>
      </p:sp>
      <p:sp>
        <p:nvSpPr>
          <p:cNvPr id="160" name="Text 127"/>
          <p:cNvSpPr/>
          <p:nvPr/>
        </p:nvSpPr>
        <p:spPr>
          <a:xfrm>
            <a:off x="7175500" y="5562600"/>
            <a:ext cx="472224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2F55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QUESTION THIS LINE SHOULD ANSWER</a:t>
            </a:r>
            <a:endParaRPr lang="en-US" sz="1100" dirty="0"/>
          </a:p>
        </p:txBody>
      </p:sp>
      <p:sp>
        <p:nvSpPr>
          <p:cNvPr id="161" name="Text 128"/>
          <p:cNvSpPr/>
          <p:nvPr/>
        </p:nvSpPr>
        <p:spPr>
          <a:xfrm>
            <a:off x="7175500" y="5808960"/>
            <a:ext cx="472224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283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“Which WFE operating conditions are associated with yield or quality variation?”</a:t>
            </a:r>
            <a:endParaRPr lang="en-US" sz="1500" dirty="0"/>
          </a:p>
        </p:txBody>
      </p:sp>
      <p:sp>
        <p:nvSpPr>
          <p:cNvPr id="162" name="Text 129"/>
          <p:cNvSpPr/>
          <p:nvPr/>
        </p:nvSpPr>
        <p:spPr>
          <a:xfrm>
            <a:off x="6837172" y="6527800"/>
            <a:ext cx="507542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9AA1B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Current state per OBX Operations &amp; Data Pre-Read (Sept 2026). To be validated onsite.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OBX Process Lines</dc:title>
  <dc:subject>PptxGenJS Presentation</dc:subject>
  <dc:creator>PptxGenJS</dc:creator>
  <cp:lastModifiedBy>PptxGenJS</cp:lastModifiedBy>
  <cp:revision>1</cp:revision>
  <dcterms:created xsi:type="dcterms:W3CDTF">2026-09-21T07:17:03Z</dcterms:created>
  <dcterms:modified xsi:type="dcterms:W3CDTF">2026-09-21T07:17:03Z</dcterms:modified>
</cp:coreProperties>
</file>